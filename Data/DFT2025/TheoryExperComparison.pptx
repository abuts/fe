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6" autoAdjust="0"/>
    <p:restoredTop sz="94660"/>
  </p:normalViewPr>
  <p:slideViewPr>
    <p:cSldViewPr snapToGrid="0">
      <p:cViewPr varScale="1">
        <p:scale>
          <a:sx n="99" d="100"/>
          <a:sy n="99" d="100"/>
        </p:scale>
        <p:origin x="84" y="2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F629B-D231-A0D5-2F2B-565EFDA18C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284CC2-7769-D92D-2ED9-3E507E8DC1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54A701-72EA-CE8B-045F-777BE3A670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101E4A-980B-3D38-96A5-E4C7FAEE1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152BD8-59C9-FF12-ACF2-3F16C526F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43543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FA9D6-2CBE-2084-746C-027689E165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4B45BD-A4BB-E591-D03E-122C83D488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97219F-B391-612F-EBB1-6E3C1CA03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A68D5E-3790-64E0-256A-D42DFC37EF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94AA80-BB23-3C87-A9F7-9827D026E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85813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C4066D-85E2-0FF4-9DED-C96D05478E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FC97DA-EAAC-1F0F-0446-A4F4802703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495AD0-4BAE-902A-6A3A-E1BAE0488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B06B66-CEAA-99AF-BD2A-D117FC3448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F8AD54-92ED-C6FA-B381-7EDC8207C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2383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92A26-B9D0-D7BD-C7B7-D5D9A67D13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53C2B1-D686-1386-F147-3341F8B024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1E726E-9156-FDA5-72F9-558145349F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64F436-4BC2-2830-95C0-279028E728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4E7EB9-C4A8-7D5C-AE8E-F882471C49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ED4D3E-0C2A-2577-A99D-B4447FADE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7395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F7C29-8DE5-ADD4-1833-39BE0DE72C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3E351A-ED67-BD52-94F7-81F348D6E3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E90209-DF08-325E-ED1C-9A9A8C32B7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B9826D-98E0-AC39-DCC7-3473C1F168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677727-83CA-B6B1-86F8-4B81F752EE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2519017-8789-1D7C-7577-6B25379B4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3F4664D-593E-A598-18B2-C68A1D82B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225DDD4-890B-2DF8-C03A-15FF7F77D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08985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E880D-71FE-117D-1B54-369D06CDC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C11024-C9EE-07CB-2FAC-7CEBD575B4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034AC2-33FE-72E8-D97E-0F6631C9E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447BC3-FD1B-FFA9-7D9D-2085D0365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73060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E8485A-05BE-C8CA-E919-58CAF9A3D9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D18505F-E044-410D-C96B-648AD3852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464DA5-EFA5-97B7-F52A-E9D5A8902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878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2B78F8-95F9-1298-6148-3113D137E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5AE2AE-5662-9A83-B908-79D181CB1C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9019E5-0E38-29E2-4314-6D6047E1CE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C3FAEC-6440-DFF2-02F3-2508DD5989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61B5C8-2B00-8499-BD8A-532E52A94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D1FAED-87CD-FC7A-A62A-5F2B4CD0D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55369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85705-3181-088E-9AEA-8F2D4C7E6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B6A9254-DAD4-11BA-DEC3-FAB4B398299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1D2C7A-FD98-8D7B-3194-839A599D4C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D212CA-C0BD-5860-9FE1-F220B70F52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DE22B9-184C-C074-234B-EB729D4E9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81EB30-AB3A-717C-900A-2596A8890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6997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48B65-5BD6-5088-9751-793350A91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1190EC-0320-08DC-BDA3-6C89A35751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8F6B3-D12B-0A94-728F-226F5025B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940779-2556-A502-8F6A-04673B07E6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C057D5-D541-FF79-719E-B9F95BE5D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21415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C48605F-8E15-9151-46E5-1DF0829A25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EB7351-F93D-68A5-B403-D95024C87D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F56311-57BF-F0E9-DABD-B69F8CCBC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B6BE71-41A8-EBD4-3C29-FADA0C0E3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5FB9A2-273A-109C-52C0-0DC51505A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33562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C5538E8-F7A2-4A24-D9C9-2280F19843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DEEBE8-922C-6E18-29E9-2FC7CE8AD8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631DE3-86D7-A236-BBAD-84704FB817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A5D086-41C3-45A3-9AA5-B506825A19E0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CFCE69-7D14-7827-90D1-91A3FE3DE9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E1EF47-A272-A80D-8F09-811DC5C64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83603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7" Type="http://schemas.openxmlformats.org/officeDocument/2006/relationships/image" Target="../media/image6.pn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8.png"/><Relationship Id="rId7" Type="http://schemas.openxmlformats.org/officeDocument/2006/relationships/oleObject" Target="../embeddings/oleObject2.bin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wmf"/><Relationship Id="rId5" Type="http://schemas.openxmlformats.org/officeDocument/2006/relationships/oleObject" Target="../embeddings/oleObject1.bin"/><Relationship Id="rId4" Type="http://schemas.openxmlformats.org/officeDocument/2006/relationships/image" Target="../media/image9.png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emf"/><Relationship Id="rId5" Type="http://schemas.openxmlformats.org/officeDocument/2006/relationships/image" Target="../media/image16.emf"/><Relationship Id="rId4" Type="http://schemas.openxmlformats.org/officeDocument/2006/relationships/image" Target="../media/image15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image" Target="../media/image18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emf"/><Relationship Id="rId5" Type="http://schemas.openxmlformats.org/officeDocument/2006/relationships/image" Target="../media/image16.emf"/><Relationship Id="rId4" Type="http://schemas.openxmlformats.org/officeDocument/2006/relationships/image" Target="../media/image15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C36CA15E-01B3-BE4D-EF9B-474AC260A7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4800" y="310257"/>
            <a:ext cx="3725333" cy="2794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95DFB3B-8727-6B8D-C88A-80EB39729B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7567" y="285750"/>
            <a:ext cx="3970867" cy="29781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3A52BA3-232E-63DD-6512-9CB70BCCCD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4635" y="3486151"/>
            <a:ext cx="3852333" cy="288925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4B54FC6-E05E-B369-936F-B153AED224E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7381" r="18929"/>
          <a:stretch/>
        </p:blipFill>
        <p:spPr>
          <a:xfrm>
            <a:off x="8365068" y="3218935"/>
            <a:ext cx="3397250" cy="330217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E07D4AD-6FA9-8AFF-9691-D58F17A3F8D7}"/>
                  </a:ext>
                </a:extLst>
              </p:cNvPr>
              <p:cNvSpPr txBox="1"/>
              <p:nvPr/>
            </p:nvSpPr>
            <p:spPr>
              <a:xfrm>
                <a:off x="8753524" y="609600"/>
                <a:ext cx="2245487" cy="52046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𝑆𝑐𝑎𝑙𝑒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𝜀</m:t>
                              </m:r>
                            </m:sup>
                          </m:s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∗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E07D4AD-6FA9-8AFF-9691-D58F17A3F8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3524" y="609600"/>
                <a:ext cx="2245487" cy="52046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E660CE49-5926-51B9-8A44-B8827C1B3F21}"/>
              </a:ext>
            </a:extLst>
          </p:cNvPr>
          <p:cNvSpPr txBox="1"/>
          <p:nvPr/>
        </p:nvSpPr>
        <p:spPr>
          <a:xfrm>
            <a:off x="8612697" y="1429406"/>
            <a:ext cx="33603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C=72.7mb/(4*pi*</a:t>
            </a:r>
            <a:r>
              <a:rPr lang="en-GB" dirty="0" err="1"/>
              <a:t>dW</a:t>
            </a:r>
            <a:r>
              <a:rPr lang="en-GB" dirty="0"/>
              <a:t>*</a:t>
            </a:r>
            <a:r>
              <a:rPr lang="en-GB" dirty="0" err="1"/>
              <a:t>RyTomEv</a:t>
            </a:r>
            <a:r>
              <a:rPr lang="en-GB" dirty="0"/>
              <a:t>),</a:t>
            </a:r>
          </a:p>
          <a:p>
            <a:r>
              <a:rPr lang="en-GB" dirty="0"/>
              <a:t>a = </a:t>
            </a:r>
            <a:r>
              <a:rPr lang="en-GB" sz="1800" b="0" i="0" dirty="0">
                <a:effectLst/>
                <a:latin typeface="Menlo"/>
              </a:rPr>
              <a:t>1.451meV</a:t>
            </a:r>
            <a:r>
              <a:rPr lang="en-GB" sz="1800" b="0" i="0" baseline="30000" dirty="0">
                <a:effectLst/>
                <a:latin typeface="Menlo"/>
              </a:rPr>
              <a:t>-</a:t>
            </a:r>
            <a:r>
              <a:rPr lang="en-GB" baseline="30000" dirty="0">
                <a:latin typeface="Menlo"/>
              </a:rPr>
              <a:t>1</a:t>
            </a:r>
            <a:endParaRPr lang="en-GB" sz="1800" b="0" i="0" baseline="30000" dirty="0">
              <a:effectLst/>
              <a:latin typeface="Menlo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C0DC79-CBEF-BA7C-3065-0E67BA057E7C}"/>
                  </a:ext>
                </a:extLst>
              </p:cNvPr>
              <p:cNvSpPr txBox="1"/>
              <p:nvPr/>
            </p:nvSpPr>
            <p:spPr>
              <a:xfrm>
                <a:off x="636924" y="163274"/>
                <a:ext cx="48442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𝜒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′′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C0DC79-CBEF-BA7C-3065-0E67BA057E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924" y="163274"/>
                <a:ext cx="484428" cy="369332"/>
              </a:xfrm>
              <a:prstGeom prst="rect">
                <a:avLst/>
              </a:prstGeom>
              <a:blipFill>
                <a:blip r:embed="rId7"/>
                <a:stretch>
                  <a:fillRect b="-50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17090720-095D-D6F5-8571-A86F35C12040}"/>
              </a:ext>
            </a:extLst>
          </p:cNvPr>
          <p:cNvSpPr txBox="1"/>
          <p:nvPr/>
        </p:nvSpPr>
        <p:spPr>
          <a:xfrm>
            <a:off x="1182014" y="184666"/>
            <a:ext cx="1940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As read from data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BFC1C49-5CDA-DC23-D236-D970D6F673CE}"/>
              </a:ext>
            </a:extLst>
          </p:cNvPr>
          <p:cNvSpPr txBox="1"/>
          <p:nvPr/>
        </p:nvSpPr>
        <p:spPr>
          <a:xfrm>
            <a:off x="9709392" y="2751693"/>
            <a:ext cx="6726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meV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0011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EEBBAEB-E5E9-7D91-9BE4-6FE6ACB7EF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10189" y="513031"/>
            <a:ext cx="6129821" cy="1083725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E743646-F1B2-501E-BA76-704367DB2F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5979" y="796661"/>
            <a:ext cx="3475541" cy="51646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C381C46-B5B4-677A-E053-98158F72F5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2783" y="1712894"/>
            <a:ext cx="3594073" cy="160865"/>
          </a:xfrm>
          <a:prstGeom prst="rect">
            <a:avLst/>
          </a:prstGeom>
        </p:spPr>
      </p:pic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E2751E87-45D9-AB2A-1E2D-9BC5F4F1DE5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49176054"/>
              </p:ext>
            </p:extLst>
          </p:nvPr>
        </p:nvGraphicFramePr>
        <p:xfrm>
          <a:off x="8528050" y="4886325"/>
          <a:ext cx="114300" cy="177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14120" imgH="177480" progId="Equation.DSMT4">
                  <p:embed/>
                </p:oleObj>
              </mc:Choice>
              <mc:Fallback>
                <p:oleObj name="Equation" r:id="rId5" imgW="114120" imgH="17748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8528050" y="4886325"/>
                        <a:ext cx="114300" cy="177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" name="Object 2">
            <a:extLst>
              <a:ext uri="{FF2B5EF4-FFF2-40B4-BE49-F238E27FC236}">
                <a16:creationId xmlns:a16="http://schemas.microsoft.com/office/drawing/2014/main" id="{E7CF93D0-3EB1-D733-EE3D-79FD07E004C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10506922"/>
              </p:ext>
            </p:extLst>
          </p:nvPr>
        </p:nvGraphicFramePr>
        <p:xfrm>
          <a:off x="6496050" y="3298825"/>
          <a:ext cx="114300" cy="177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114120" imgH="177480" progId="Equation.DSMT4">
                  <p:embed/>
                </p:oleObj>
              </mc:Choice>
              <mc:Fallback>
                <p:oleObj name="Equation" r:id="rId7" imgW="114120" imgH="17748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6496050" y="3298825"/>
                        <a:ext cx="114300" cy="177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7053646C-33FD-1ED3-3C66-D2EF0E2C61F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28296" y="2171930"/>
            <a:ext cx="2730480" cy="20319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788FE60-F7B9-BCE4-91E8-9B3E9164C44C}"/>
                  </a:ext>
                </a:extLst>
              </p:cNvPr>
              <p:cNvSpPr txBox="1"/>
              <p:nvPr/>
            </p:nvSpPr>
            <p:spPr>
              <a:xfrm>
                <a:off x="486611" y="2912753"/>
                <a:ext cx="11218777" cy="5638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num>
                      <m:den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m:rPr>
                            <m:sty m:val="p"/>
                          </m:r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𝑑𝐸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den>
                    </m:f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  <m:sSub>
                                  <m:sSubPr>
                                    <m:ctrlP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𝑜</m:t>
                                    </m:r>
                                  </m:sub>
                                </m:sSub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]</m:t>
                                </m:r>
                              </m:num>
                              <m:den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𝐵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  <m: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f>
                      <m:f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𝜒</m:t>
                            </m:r>
                          </m:e>
                          <m:sup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"</m:t>
                            </m:r>
                          </m:sup>
                        </m:sSup>
                      </m:num>
                      <m:den>
                        <m: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den>
                    </m:f>
                    <m:d>
                      <m:dPr>
                        <m:begChr m:val="["/>
                        <m:endChr m:val="]"/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GB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GB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𝐵</m:t>
                                    </m:r>
                                  </m:sub>
                                </m:sSub>
                              </m:e>
                              <m:sup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𝑅𝑦</m:t>
                            </m:r>
                          </m:den>
                        </m:f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"</m:t>
                        </m:r>
                      </m:sup>
                    </m:sSup>
                    <m:d>
                      <m:d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GB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GB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2.818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  <m:sSup>
                          <m:sSupPr>
                            <m:ctrlP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−30</m:t>
                            </m:r>
                          </m:sup>
                        </m:sSup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  <m:sSup>
                          <m:sSup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[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𝑚𝐵𝑎𝑟𝑛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∗1.36057∗</m:t>
                        </m:r>
                        <m:sSup>
                          <m:sSupPr>
                            <m:ctrlP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d>
                          <m:dPr>
                            <m:begChr m:val="["/>
                            <m:endChr m:val="]"/>
                            <m:ctrlP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𝑚𝑒𝑉</m:t>
                            </m:r>
                          </m:e>
                        </m:d>
                      </m:den>
                    </m:f>
                  </m:oMath>
                </a14:m>
                <a:r>
                  <a:rPr lang="en-GB" dirty="0"/>
                  <a:t>=1.6997*10</a:t>
                </a:r>
                <a:r>
                  <a:rPr lang="en-GB" baseline="30000" dirty="0"/>
                  <a:t>-3</a:t>
                </a:r>
                <a:r>
                  <a:rPr lang="en-GB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"</m:t>
                        </m:r>
                      </m:sup>
                    </m:sSup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𝑚𝐵𝑎𝑟𝑛</m:t>
                            </m:r>
                          </m:num>
                          <m:den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𝑚𝑒𝑉</m:t>
                            </m:r>
                          </m:den>
                        </m:f>
                      </m:e>
                    </m:d>
                  </m:oMath>
                </a14:m>
                <a:endParaRPr lang="en-GB" baseline="3000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788FE60-F7B9-BCE4-91E8-9B3E9164C4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611" y="2912753"/>
                <a:ext cx="11218777" cy="563872"/>
              </a:xfrm>
              <a:prstGeom prst="rect">
                <a:avLst/>
              </a:prstGeom>
              <a:blipFill>
                <a:blip r:embed="rId9"/>
                <a:stretch>
                  <a:fillRect l="-54" b="-434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38111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75D8701-9A59-F66A-822E-B7928EA41A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405" y="394973"/>
            <a:ext cx="3752610" cy="298503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14D5EB8-C6DF-E9B3-9A2E-DB776BCADABE}"/>
              </a:ext>
            </a:extLst>
          </p:cNvPr>
          <p:cNvSpPr txBox="1"/>
          <p:nvPr/>
        </p:nvSpPr>
        <p:spPr>
          <a:xfrm>
            <a:off x="609599" y="293511"/>
            <a:ext cx="5779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LDA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D62FA8A-4A23-D441-7D31-5F7D03291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6899" y="319366"/>
            <a:ext cx="4080850" cy="306063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FC71321-BF98-2045-A96E-DD9712E32B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6015" y="3571020"/>
            <a:ext cx="4080851" cy="306063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FB242D4-581A-7DEE-BE1E-A459DD3BCD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5067" y="3571020"/>
            <a:ext cx="3826933" cy="28702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B6F1E71-3306-3687-C556-1BF4C5818C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5071" y="3637716"/>
            <a:ext cx="3847659" cy="3060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3628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961C8-FAC3-0A66-A455-4A34C61A6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A5D3E04-0B03-4F36-4692-AE76A6F511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491" y="446310"/>
            <a:ext cx="4011218" cy="319074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21FF745-91E8-67C9-7F91-0D6BC9086B0D}"/>
              </a:ext>
            </a:extLst>
          </p:cNvPr>
          <p:cNvSpPr txBox="1"/>
          <p:nvPr/>
        </p:nvSpPr>
        <p:spPr>
          <a:xfrm>
            <a:off x="609599" y="293511"/>
            <a:ext cx="5779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GSGW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071EA15-A5BA-EB24-EB20-CD74C1780E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6016" y="359879"/>
            <a:ext cx="4080850" cy="306063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D730BAD-7D58-F0BC-1681-4E2FB59998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6015" y="3571020"/>
            <a:ext cx="4080851" cy="306063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E269BFC-1CF2-D053-5351-D676324BC1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5067" y="3571020"/>
            <a:ext cx="3826933" cy="28702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B978444-03C3-A30C-ED76-DD98758956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5492" y="3637051"/>
            <a:ext cx="4011217" cy="3190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1795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4577</TotalTime>
  <Words>45</Words>
  <Application>Microsoft Office PowerPoint</Application>
  <PresentationFormat>Widescreen</PresentationFormat>
  <Paragraphs>9</Paragraphs>
  <Slides>4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1" baseType="lpstr">
      <vt:lpstr>Aptos</vt:lpstr>
      <vt:lpstr>Aptos Display</vt:lpstr>
      <vt:lpstr>Arial</vt:lpstr>
      <vt:lpstr>Cambria Math</vt:lpstr>
      <vt:lpstr>Menlo</vt:lpstr>
      <vt:lpstr>Office Theme</vt:lpstr>
      <vt:lpstr>Equation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Buts, Alex (STFC,RAL,ISIS)</dc:creator>
  <cp:lastModifiedBy>Buts, Alex (STFC,RAL,ISIS)</cp:lastModifiedBy>
  <cp:revision>15</cp:revision>
  <dcterms:created xsi:type="dcterms:W3CDTF">2025-07-08T11:01:33Z</dcterms:created>
  <dcterms:modified xsi:type="dcterms:W3CDTF">2025-12-04T13:20:27Z</dcterms:modified>
</cp:coreProperties>
</file>