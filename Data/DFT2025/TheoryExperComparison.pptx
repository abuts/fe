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80" r:id="rId10"/>
    <p:sldId id="272" r:id="rId11"/>
    <p:sldId id="277" r:id="rId12"/>
    <p:sldId id="278" r:id="rId13"/>
    <p:sldId id="268" r:id="rId14"/>
    <p:sldId id="269" r:id="rId15"/>
    <p:sldId id="271" r:id="rId16"/>
    <p:sldId id="273" r:id="rId17"/>
    <p:sldId id="276" r:id="rId18"/>
    <p:sldId id="279" r:id="rId19"/>
    <p:sldId id="281" r:id="rId20"/>
    <p:sldId id="274" r:id="rId21"/>
    <p:sldId id="264" r:id="rId22"/>
    <p:sldId id="270" r:id="rId23"/>
    <p:sldId id="263" r:id="rId24"/>
    <p:sldId id="265" r:id="rId25"/>
    <p:sldId id="27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3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6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7" Type="http://schemas.openxmlformats.org/officeDocument/2006/relationships/image" Target="../media/image47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emf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emf"/><Relationship Id="rId5" Type="http://schemas.openxmlformats.org/officeDocument/2006/relationships/image" Target="../media/image58.emf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png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emf"/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9.emf"/><Relationship Id="rId4" Type="http://schemas.openxmlformats.org/officeDocument/2006/relationships/image" Target="../media/image68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emf"/><Relationship Id="rId2" Type="http://schemas.openxmlformats.org/officeDocument/2006/relationships/image" Target="../media/image70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image" Target="../media/image7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9.emf"/><Relationship Id="rId4" Type="http://schemas.openxmlformats.org/officeDocument/2006/relationships/image" Target="../media/image78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i="0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879450-5656-2CE7-AAC2-771F11904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533" y="358541"/>
            <a:ext cx="7806088" cy="585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03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5B4536F-2619-BAD5-6833-FF3C4780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340" y="1511524"/>
            <a:ext cx="5527509" cy="433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8" y="33754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r>
              <a:rPr lang="en-GB" dirty="0" err="1"/>
              <a:t>Const</a:t>
            </a:r>
            <a:r>
              <a:rPr lang="en-GB" dirty="0"/>
              <a:t> background set at 0.02, peak amplitude selected manually.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60879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240399" y="2069736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91638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76886" y="230234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08023-680A-40F7-1044-41AF4D72ED57}"/>
              </a:ext>
            </a:extLst>
          </p:cNvPr>
          <p:cNvSpPr txBox="1"/>
          <p:nvPr/>
        </p:nvSpPr>
        <p:spPr>
          <a:xfrm>
            <a:off x="9772648" y="5568950"/>
            <a:ext cx="620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5BE9A-5E4C-CB90-BE08-99E9F53F0E58}"/>
              </a:ext>
            </a:extLst>
          </p:cNvPr>
          <p:cNvSpPr txBox="1"/>
          <p:nvPr/>
        </p:nvSpPr>
        <p:spPr>
          <a:xfrm>
            <a:off x="10307173" y="5528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Sqrt(1+2.7^2)</a:t>
            </a:r>
            <a:r>
              <a:rPr lang="en-GB" dirty="0">
                <a:solidFill>
                  <a:srgbClr val="FF0000"/>
                </a:solidFill>
              </a:rPr>
              <a:t>=2.88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88C94-A222-AF50-A63E-BFB3E27CF29C}"/>
              </a:ext>
            </a:extLst>
          </p:cNvPr>
          <p:cNvSpPr txBox="1"/>
          <p:nvPr/>
        </p:nvSpPr>
        <p:spPr>
          <a:xfrm>
            <a:off x="8725708" y="559700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2.59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6E06BD-D724-BDC4-A45F-E5169625E39F}"/>
              </a:ext>
            </a:extLst>
          </p:cNvPr>
          <p:cNvSpPr txBox="1"/>
          <p:nvPr/>
        </p:nvSpPr>
        <p:spPr>
          <a:xfrm>
            <a:off x="5866715" y="5597004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Sqrt(2^2+0.3^2)=</a:t>
            </a:r>
            <a:r>
              <a:rPr lang="en-GB" dirty="0">
                <a:solidFill>
                  <a:srgbClr val="00B050"/>
                </a:solidFill>
              </a:rPr>
              <a:t>2.03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A7D9F3-47FD-4666-B14D-B74E8CDD3064}"/>
              </a:ext>
            </a:extLst>
          </p:cNvPr>
          <p:cNvCxnSpPr>
            <a:cxnSpLocks/>
          </p:cNvCxnSpPr>
          <p:nvPr/>
        </p:nvCxnSpPr>
        <p:spPr>
          <a:xfrm>
            <a:off x="7004050" y="189865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F3308D-C7A8-0897-794D-AC70E247FF41}"/>
              </a:ext>
            </a:extLst>
          </p:cNvPr>
          <p:cNvCxnSpPr>
            <a:cxnSpLocks/>
          </p:cNvCxnSpPr>
          <p:nvPr/>
        </p:nvCxnSpPr>
        <p:spPr>
          <a:xfrm>
            <a:off x="9036050" y="193040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187F5-65C7-8203-072B-C49413C41194}"/>
              </a:ext>
            </a:extLst>
          </p:cNvPr>
          <p:cNvCxnSpPr>
            <a:cxnSpLocks/>
          </p:cNvCxnSpPr>
          <p:nvPr/>
        </p:nvCxnSpPr>
        <p:spPr>
          <a:xfrm>
            <a:off x="10140950" y="23558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3BD3CF-E62F-ABC7-04FF-F981EF505E5C}"/>
              </a:ext>
            </a:extLst>
          </p:cNvPr>
          <p:cNvCxnSpPr>
            <a:cxnSpLocks/>
          </p:cNvCxnSpPr>
          <p:nvPr/>
        </p:nvCxnSpPr>
        <p:spPr>
          <a:xfrm>
            <a:off x="10591800" y="32956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0EBD-CD40-A1FB-76F1-6F2C247F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3DC2E-2570-82E3-78F4-23489D167D51}"/>
              </a:ext>
            </a:extLst>
          </p:cNvPr>
          <p:cNvSpPr txBox="1"/>
          <p:nvPr/>
        </p:nvSpPr>
        <p:spPr>
          <a:xfrm>
            <a:off x="807729" y="33675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 Different issue. Peaks fitted with common background for each colour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A46D0-248F-7996-9F39-DDCCC25BD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613F42A-8BE9-5865-BB2B-51C11D2A383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0CFE9E-B60D-4F40-C9DF-13DBC300D034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7B773-537B-80DD-BC19-8212F93B1CD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A55887-656D-C5D7-AB45-8AB41CC24839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EA2D1-8C7E-6DE8-5F19-C805A638DA29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84369-3CA0-6B1F-2B56-B7CAA51B721E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F962-0C1A-B21B-F66F-34568E787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50" y="1600298"/>
            <a:ext cx="5870000" cy="399855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B485EF-A4A2-86FD-EA24-8DA33F0687B5}"/>
              </a:ext>
            </a:extLst>
          </p:cNvPr>
          <p:cNvCxnSpPr/>
          <p:nvPr/>
        </p:nvCxnSpPr>
        <p:spPr>
          <a:xfrm>
            <a:off x="7067550" y="3162300"/>
            <a:ext cx="0" cy="217170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595389-C521-DD9A-49DE-846C0DE68AF3}"/>
              </a:ext>
            </a:extLst>
          </p:cNvPr>
          <p:cNvSpPr txBox="1"/>
          <p:nvPr/>
        </p:nvSpPr>
        <p:spPr>
          <a:xfrm>
            <a:off x="6757208" y="554661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2.03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2B0668-0FFF-F142-1B5B-742EB0146C1F}"/>
              </a:ext>
            </a:extLst>
          </p:cNvPr>
          <p:cNvCxnSpPr>
            <a:cxnSpLocks/>
          </p:cNvCxnSpPr>
          <p:nvPr/>
        </p:nvCxnSpPr>
        <p:spPr>
          <a:xfrm>
            <a:off x="8572500" y="2273300"/>
            <a:ext cx="0" cy="31178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7E4510-D441-72A4-F1C1-98B5CD273915}"/>
              </a:ext>
            </a:extLst>
          </p:cNvPr>
          <p:cNvSpPr txBox="1"/>
          <p:nvPr/>
        </p:nvSpPr>
        <p:spPr>
          <a:xfrm>
            <a:off x="8275666" y="559885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A4CB8-FFDB-9331-F108-5FE16651869D}"/>
              </a:ext>
            </a:extLst>
          </p:cNvPr>
          <p:cNvSpPr txBox="1"/>
          <p:nvPr/>
        </p:nvSpPr>
        <p:spPr>
          <a:xfrm>
            <a:off x="10465605" y="547325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2.88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A4EA4A-43E8-C06A-6A9B-D133701D6BD1}"/>
              </a:ext>
            </a:extLst>
          </p:cNvPr>
          <p:cNvCxnSpPr>
            <a:cxnSpLocks/>
          </p:cNvCxnSpPr>
          <p:nvPr/>
        </p:nvCxnSpPr>
        <p:spPr>
          <a:xfrm>
            <a:off x="10674350" y="33845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1381-EE0F-E32A-BD87-E825B63C3F1F}"/>
              </a:ext>
            </a:extLst>
          </p:cNvPr>
          <p:cNvCxnSpPr>
            <a:cxnSpLocks/>
          </p:cNvCxnSpPr>
          <p:nvPr/>
        </p:nvCxnSpPr>
        <p:spPr>
          <a:xfrm>
            <a:off x="9144000" y="2425700"/>
            <a:ext cx="0" cy="14776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055482C-3638-BE7F-E8CB-718631FF8862}"/>
              </a:ext>
            </a:extLst>
          </p:cNvPr>
          <p:cNvSpPr txBox="1"/>
          <p:nvPr/>
        </p:nvSpPr>
        <p:spPr>
          <a:xfrm>
            <a:off x="9204386" y="224103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168984-63E0-FF43-B771-AE1FC504D0C7}"/>
              </a:ext>
            </a:extLst>
          </p:cNvPr>
          <p:cNvCxnSpPr>
            <a:cxnSpLocks/>
          </p:cNvCxnSpPr>
          <p:nvPr/>
        </p:nvCxnSpPr>
        <p:spPr>
          <a:xfrm>
            <a:off x="10109200" y="24447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82F7A6F-9C93-93F7-7B75-605B2DFC5AE2}"/>
              </a:ext>
            </a:extLst>
          </p:cNvPr>
          <p:cNvSpPr txBox="1"/>
          <p:nvPr/>
        </p:nvSpPr>
        <p:spPr>
          <a:xfrm>
            <a:off x="9772649" y="55213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2.33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A466D5-0516-EADC-D679-65E9081D18A7}"/>
              </a:ext>
            </a:extLst>
          </p:cNvPr>
          <p:cNvCxnSpPr>
            <a:cxnSpLocks/>
          </p:cNvCxnSpPr>
          <p:nvPr/>
        </p:nvCxnSpPr>
        <p:spPr>
          <a:xfrm>
            <a:off x="9144000" y="4003675"/>
            <a:ext cx="0" cy="150812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7FA98D-053C-C252-5367-D1946057826D}"/>
              </a:ext>
            </a:extLst>
          </p:cNvPr>
          <p:cNvSpPr txBox="1"/>
          <p:nvPr/>
        </p:nvSpPr>
        <p:spPr>
          <a:xfrm>
            <a:off x="8859055" y="554355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2.61</a:t>
            </a:r>
          </a:p>
        </p:txBody>
      </p:sp>
    </p:spTree>
    <p:extLst>
      <p:ext uri="{BB962C8B-B14F-4D97-AF65-F5344CB8AC3E}">
        <p14:creationId xmlns:p14="http://schemas.microsoft.com/office/powerpoint/2010/main" val="163188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FB60AE-2498-60AA-98E7-894F9E59F028}"/>
              </a:ext>
            </a:extLst>
          </p:cNvPr>
          <p:cNvSpPr txBox="1"/>
          <p:nvPr/>
        </p:nvSpPr>
        <p:spPr>
          <a:xfrm>
            <a:off x="530444" y="274945"/>
            <a:ext cx="10541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peaks, for Ei400, &lt;110&gt; and &lt;200&gt; cuts combined. Cut &lt;110&gt; used up to 190meV; Cut 200 from 200. </a:t>
            </a:r>
          </a:p>
          <a:p>
            <a:r>
              <a:rPr lang="en-GB" dirty="0"/>
              <a:t>Red marks – fit 400meV; &lt;200&gt;  using whole dataset, fixed slope background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313511-2D76-D926-0D5B-A8A79188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9366"/>
            <a:ext cx="4190001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9975C-788A-BDF2-CAB4-B2946A966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369" y="1104208"/>
            <a:ext cx="4052632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780944-136B-A94D-CC44-B22C0D211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855" y="1104208"/>
            <a:ext cx="4070769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0DC7BEA-11B1-1EBF-DF7D-E09482ABFA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71878"/>
            <a:ext cx="3961151" cy="23861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238D9D5-1D8B-ABE7-98EA-C55D080D1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0850" y="4471878"/>
            <a:ext cx="3961151" cy="23861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AD5C12-E4BE-CFCF-39E1-D6FE8B2436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700" y="4355666"/>
            <a:ext cx="4052632" cy="244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B0B7C1-5964-BAAD-07DC-DD4F362225F6}"/>
              </a:ext>
            </a:extLst>
          </p:cNvPr>
          <p:cNvSpPr txBox="1"/>
          <p:nvPr/>
        </p:nvSpPr>
        <p:spPr>
          <a:xfrm>
            <a:off x="374007" y="3977658"/>
            <a:ext cx="8716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 for Ei400, &lt;110&gt; and refit upper part of &lt;200&gt; cuts using fixed 2exp </a:t>
            </a:r>
            <a:r>
              <a:rPr lang="en-GB" dirty="0" err="1"/>
              <a:t>bg</a:t>
            </a:r>
            <a:r>
              <a:rPr lang="en-GB" dirty="0"/>
              <a:t> + delta.</a:t>
            </a:r>
          </a:p>
        </p:txBody>
      </p:sp>
    </p:spTree>
    <p:extLst>
      <p:ext uri="{BB962C8B-B14F-4D97-AF65-F5344CB8AC3E}">
        <p14:creationId xmlns:p14="http://schemas.microsoft.com/office/powerpoint/2010/main" val="3503802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F0140A7-4EA3-AAC2-25BB-136C918FBD41}"/>
              </a:ext>
            </a:extLst>
          </p:cNvPr>
          <p:cNvSpPr txBox="1"/>
          <p:nvPr/>
        </p:nvSpPr>
        <p:spPr>
          <a:xfrm>
            <a:off x="248356" y="333022"/>
            <a:ext cx="9440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Ei=200meV;  DSHO fit in whole cut area, appropriate BZ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EE55FB-4D4C-CD80-E47A-3767BB227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0453"/>
            <a:ext cx="8969191" cy="22465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A79CE9-76F3-701D-77C0-01ADB92C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191" y="77671"/>
            <a:ext cx="2274542" cy="18520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99711C-2BCE-ADFA-FD0A-FBA746B83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7620" y="1929755"/>
            <a:ext cx="2377684" cy="154657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412518-3E1B-4D83-FB73-180E9C50BF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9511" y="3569361"/>
            <a:ext cx="12192000" cy="2819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35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158310</TotalTime>
  <Words>582</Words>
  <Application>Microsoft Office PowerPoint</Application>
  <PresentationFormat>Widescreen</PresentationFormat>
  <Paragraphs>60</Paragraphs>
  <Slides>25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67</cp:revision>
  <dcterms:created xsi:type="dcterms:W3CDTF">2025-07-08T11:01:33Z</dcterms:created>
  <dcterms:modified xsi:type="dcterms:W3CDTF">2026-08-21T14:54:05Z</dcterms:modified>
</cp:coreProperties>
</file>