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72" r:id="rId10"/>
    <p:sldId id="268" r:id="rId11"/>
    <p:sldId id="269" r:id="rId12"/>
    <p:sldId id="271" r:id="rId13"/>
    <p:sldId id="273" r:id="rId14"/>
    <p:sldId id="274" r:id="rId15"/>
    <p:sldId id="264" r:id="rId16"/>
    <p:sldId id="270" r:id="rId17"/>
    <p:sldId id="263" r:id="rId18"/>
    <p:sldId id="265" r:id="rId19"/>
    <p:sldId id="27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733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23/07/2026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7" Type="http://schemas.openxmlformats.org/officeDocument/2006/relationships/image" Target="../media/image36.emf"/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emf"/><Relationship Id="rId5" Type="http://schemas.openxmlformats.org/officeDocument/2006/relationships/image" Target="../media/image34.emf"/><Relationship Id="rId4" Type="http://schemas.openxmlformats.org/officeDocument/2006/relationships/image" Target="../media/image33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emf"/><Relationship Id="rId7" Type="http://schemas.openxmlformats.org/officeDocument/2006/relationships/image" Target="../media/image42.emf"/><Relationship Id="rId2" Type="http://schemas.openxmlformats.org/officeDocument/2006/relationships/image" Target="../media/image3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emf"/><Relationship Id="rId5" Type="http://schemas.openxmlformats.org/officeDocument/2006/relationships/image" Target="../media/image40.emf"/><Relationship Id="rId4" Type="http://schemas.openxmlformats.org/officeDocument/2006/relationships/image" Target="../media/image39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emf"/><Relationship Id="rId7" Type="http://schemas.openxmlformats.org/officeDocument/2006/relationships/image" Target="../media/image48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emf"/><Relationship Id="rId5" Type="http://schemas.openxmlformats.org/officeDocument/2006/relationships/image" Target="../media/image46.emf"/><Relationship Id="rId4" Type="http://schemas.openxmlformats.org/officeDocument/2006/relationships/image" Target="../media/image45.emf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em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image" Target="../media/image50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3.emf"/><Relationship Id="rId4" Type="http://schemas.openxmlformats.org/officeDocument/2006/relationships/image" Target="../media/image52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image" Target="../media/image54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6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emf"/><Relationship Id="rId2" Type="http://schemas.openxmlformats.org/officeDocument/2006/relationships/image" Target="../media/image60.emf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3.emf"/><Relationship Id="rId4" Type="http://schemas.openxmlformats.org/officeDocument/2006/relationships/image" Target="../media/image62.em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E2751E87-45D9-AB2A-1E2D-9BC5F4F1DE5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3" name="Object 2">
                        <a:extLst>
                          <a:ext uri="{FF2B5EF4-FFF2-40B4-BE49-F238E27FC236}">
                            <a16:creationId xmlns:a16="http://schemas.microsoft.com/office/drawing/2014/main" id="{E7CF93D0-3EB1-D733-EE3D-79FD07E004C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Linear spin 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C7AE46-76A4-79D1-2690-F811AD4D0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542344"/>
            <a:ext cx="6998606" cy="51061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0B62A9-9274-495C-5BC6-200010A4D07F}"/>
              </a:ext>
            </a:extLst>
          </p:cNvPr>
          <p:cNvSpPr txBox="1"/>
          <p:nvPr/>
        </p:nvSpPr>
        <p:spPr>
          <a:xfrm>
            <a:off x="431800" y="444500"/>
            <a:ext cx="1049011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Amplitude of symmetrised and non- symmetrised SW with and without Magnetic form-factor corrections</a:t>
            </a:r>
          </a:p>
          <a:p>
            <a:r>
              <a:rPr lang="en-GB" dirty="0"/>
              <a:t>Black line – symmetrised with correction</a:t>
            </a:r>
          </a:p>
          <a:p>
            <a:r>
              <a:rPr lang="en-GB" dirty="0"/>
              <a:t>Red line – non-symmetrised</a:t>
            </a:r>
          </a:p>
          <a:p>
            <a:r>
              <a:rPr lang="en-GB" dirty="0"/>
              <a:t>Blue line – symmetrised without correction.</a:t>
            </a:r>
          </a:p>
        </p:txBody>
      </p:sp>
    </p:spTree>
    <p:extLst>
      <p:ext uri="{BB962C8B-B14F-4D97-AF65-F5344CB8AC3E}">
        <p14:creationId xmlns:p14="http://schemas.microsoft.com/office/powerpoint/2010/main" val="950007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C1B1D5-B951-F089-67A6-1F7B28AE2AEE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2(5) converges to different amplitude and J, which is not on smooth J 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CB36F6-0C43-D842-7329-9476F7A3B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953532"/>
            <a:ext cx="10213571" cy="4576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6920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1F4E79-57A6-D533-94A7-571DC0160A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075" y="1166473"/>
            <a:ext cx="7689850" cy="508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CA048B-0AB8-C9DA-29D3-0537C361C5FD}"/>
              </a:ext>
            </a:extLst>
          </p:cNvPr>
          <p:cNvSpPr txBox="1"/>
          <p:nvPr/>
        </p:nvSpPr>
        <p:spPr>
          <a:xfrm>
            <a:off x="807729" y="336759"/>
            <a:ext cx="98396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Problem with magnetic form factors? Peak height for green peaks at ~±1.5 is almost twice of ~±0.5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385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CFB3F-94A4-E275-199E-CFA1C0848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43290E-9F31-1949-38D4-DC609F291401}"/>
              </a:ext>
            </a:extLst>
          </p:cNvPr>
          <p:cNvSpPr txBox="1"/>
          <p:nvPr/>
        </p:nvSpPr>
        <p:spPr>
          <a:xfrm>
            <a:off x="702733" y="584200"/>
            <a:ext cx="10000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Problem with fitting. Figure 3(6) converges to different amplitude and J, which is not on smooth J line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00D1387-B25A-18E4-A8EC-3EA3F0423D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733" y="1237607"/>
            <a:ext cx="10617746" cy="4781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2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9509CB99-12E2-E273-5286-1BBDA8A65A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2" y="3494002"/>
            <a:ext cx="4228444" cy="317133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154EA4-0C83-E3FD-5027-16680B1B1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4685" y="195542"/>
            <a:ext cx="4057225" cy="30477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E99142-8136-0859-F058-060B9AB7B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6722" y="68373"/>
            <a:ext cx="4057225" cy="30477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9EBF7E-12A4-0BDA-9378-5415F5B4A2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63" y="138707"/>
            <a:ext cx="4208542" cy="316141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6D1FA0-C8A1-911D-DB2D-5E77998256F5}"/>
              </a:ext>
            </a:extLst>
          </p:cNvPr>
          <p:cNvSpPr txBox="1"/>
          <p:nvPr/>
        </p:nvSpPr>
        <p:spPr>
          <a:xfrm>
            <a:off x="297800" y="3300124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1D cut: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C8E092-C62C-70AA-38DA-905E29ED7698}"/>
              </a:ext>
            </a:extLst>
          </p:cNvPr>
          <p:cNvSpPr txBox="1"/>
          <p:nvPr/>
        </p:nvSpPr>
        <p:spPr>
          <a:xfrm>
            <a:off x="135074" y="46923"/>
            <a:ext cx="1567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2D cut: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1659FB-AE62-FF61-E2DC-BFD6D14E7F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6615" y="3618294"/>
            <a:ext cx="3897001" cy="29227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9FF9651-7B2D-13D2-7DAB-771A87865D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6889" y="3457313"/>
            <a:ext cx="4165169" cy="31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65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FC7E4-BB8F-A2C7-09EA-43932948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0ACBC39-04AC-D321-7DB1-41E902984B95}"/>
              </a:ext>
            </a:extLst>
          </p:cNvPr>
          <p:cNvSpPr txBox="1"/>
          <p:nvPr/>
        </p:nvSpPr>
        <p:spPr>
          <a:xfrm>
            <a:off x="504497" y="129555"/>
            <a:ext cx="1571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Symmetrised: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AB94095-A6C6-9137-5CB1-7CC773E32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9" y="482951"/>
            <a:ext cx="3846261" cy="28846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A97DC90-3857-DD81-9D3E-8275E85D4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472" y="300072"/>
            <a:ext cx="4191000" cy="314325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76060C3-4F78-D7D6-839A-B377C74588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9" y="227131"/>
            <a:ext cx="4060887" cy="32161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3651339-0B18-B11E-7E38-9AA14D3FED90}"/>
              </a:ext>
            </a:extLst>
          </p:cNvPr>
          <p:cNvSpPr txBox="1"/>
          <p:nvPr/>
        </p:nvSpPr>
        <p:spPr>
          <a:xfrm>
            <a:off x="504497" y="3303838"/>
            <a:ext cx="10776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For 200meV dataset is possible to fit double-exponential background separately and then fit data using this </a:t>
            </a:r>
          </a:p>
          <a:p>
            <a:r>
              <a:rPr lang="en-GB" dirty="0"/>
              <a:t>background. The result is Ei200meV extern bg. </a:t>
            </a:r>
          </a:p>
          <a:p>
            <a:r>
              <a:rPr lang="en-GB" dirty="0"/>
              <a:t>For 400meV ds, background looks too high even if taken from central part of SW? Strange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5DCD0D-A0F9-A0C2-69AC-0C255EB9B6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269" y="4446839"/>
            <a:ext cx="3322511" cy="22126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312FD1-4351-53EB-3CAE-A70EAF312D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70" y="4446839"/>
            <a:ext cx="3061525" cy="22126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1DC9F4-380F-F7CA-CD77-20627017C7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2778" y="4520748"/>
            <a:ext cx="4060887" cy="22126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FA6761-A200-3DBE-FFE9-B9E28082B062}"/>
              </a:ext>
            </a:extLst>
          </p:cNvPr>
          <p:cNvSpPr txBox="1"/>
          <p:nvPr/>
        </p:nvSpPr>
        <p:spPr>
          <a:xfrm>
            <a:off x="599268" y="4336082"/>
            <a:ext cx="84317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Ei400 2D cuts with 2-exp fit background, 1 st amplitude fit vs 1D cut with fit base </a:t>
            </a:r>
            <a:r>
              <a:rPr lang="en-GB" dirty="0" err="1"/>
              <a:t>bg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178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D43CDCD-DFF5-D6D9-D349-7F8170F90538}"/>
              </a:ext>
            </a:extLst>
          </p:cNvPr>
          <p:cNvSpPr txBox="1"/>
          <p:nvPr/>
        </p:nvSpPr>
        <p:spPr>
          <a:xfrm>
            <a:off x="485578" y="422516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&lt;2,0,0&gt; for 3 Ei. DSHO. High Ei data – first fit, Ei200 and 400 subsequently refitted to peaks only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E407B6E-BEC6-7DC8-C626-3FA909C2B4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34" y="1147384"/>
            <a:ext cx="4002318" cy="273655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57E0F55-27AE-C04F-EF92-419CA661D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9946" y="1162374"/>
            <a:ext cx="4634391" cy="288979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ECA03DF-B30B-F8E9-A572-4383259C2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186" y="1330610"/>
            <a:ext cx="4126077" cy="25302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8F1ACD-3AFA-FF86-BA52-3D7194763E41}"/>
              </a:ext>
            </a:extLst>
          </p:cNvPr>
          <p:cNvSpPr txBox="1"/>
          <p:nvPr/>
        </p:nvSpPr>
        <p:spPr>
          <a:xfrm>
            <a:off x="290024" y="3851075"/>
            <a:ext cx="11414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Fitting around &lt;1,1,0&gt;, choosing minimal Q variation(~same magnetic FF); fit all and fit peak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AC0D7905-C2DE-C82F-0324-00C034A911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35" y="4422697"/>
            <a:ext cx="4065785" cy="237948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811326-8DF2-646B-DF5B-473AE73A2E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5096" y="4315859"/>
            <a:ext cx="4320386" cy="252848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EA712D9-310F-4173-DB5A-9CB81A78360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3247" y="4479353"/>
            <a:ext cx="4065785" cy="237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924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B9A5C9-52D8-BA21-A56C-11587E7CE8E0}"/>
              </a:ext>
            </a:extLst>
          </p:cNvPr>
          <p:cNvSpPr txBox="1"/>
          <p:nvPr/>
        </p:nvSpPr>
        <p:spPr>
          <a:xfrm>
            <a:off x="315531" y="238259"/>
            <a:ext cx="5664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quality for the data above (Ei800, fitting to whole cut)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0D29AA-40DA-92AB-35BF-4AE7BB432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44" y="761529"/>
            <a:ext cx="4780156" cy="33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26404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9C40E5E-1C61-60C6-068C-DEBF7859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63" y="3642356"/>
            <a:ext cx="4318907" cy="2880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3DB6D3-4766-ECFA-86AC-9211B803191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923363" y="549000"/>
            <a:ext cx="4320000" cy="288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AA43F3-B7EC-07DC-0A8B-49A60A26B307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95" y="493821"/>
            <a:ext cx="4320000" cy="2880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913272-B333-5FB2-9CD5-6DB5D4380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299" y="3268133"/>
            <a:ext cx="4257996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4481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8E34BEA-EFAE-DC9B-28DD-528593CA5641}"/>
              </a:ext>
            </a:extLst>
          </p:cNvPr>
          <p:cNvSpPr txBox="1"/>
          <p:nvPr/>
        </p:nvSpPr>
        <p:spPr>
          <a:xfrm>
            <a:off x="346129" y="211810"/>
            <a:ext cx="2816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background quality: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D1D2B-F477-CD83-6176-FC776D25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29" y="1024146"/>
            <a:ext cx="3344499" cy="2404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AE99ED-5542-9F87-EEA7-A35140ABF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693" y="892268"/>
            <a:ext cx="3508433" cy="26313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46C5FD-7358-025D-1A2A-5D1E1C22009F}"/>
              </a:ext>
            </a:extLst>
          </p:cNvPr>
          <p:cNvSpPr txBox="1"/>
          <p:nvPr/>
        </p:nvSpPr>
        <p:spPr>
          <a:xfrm>
            <a:off x="3782248" y="328340"/>
            <a:ext cx="3621889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1d cut from masked (blue line) and</a:t>
            </a:r>
          </a:p>
          <a:p>
            <a:r>
              <a:rPr lang="en-GB" dirty="0"/>
              <a:t> unmasked (red line) datasets from</a:t>
            </a:r>
          </a:p>
          <a:p>
            <a:r>
              <a:rPr lang="en-GB" dirty="0"/>
              <a:t> the left.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78611B-C34D-26E5-9976-CD505083C7D9}"/>
              </a:ext>
            </a:extLst>
          </p:cNvPr>
          <p:cNvSpPr txBox="1"/>
          <p:nvPr/>
        </p:nvSpPr>
        <p:spPr>
          <a:xfrm>
            <a:off x="7745150" y="581142"/>
            <a:ext cx="2359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Fitted </a:t>
            </a:r>
            <a:r>
              <a:rPr lang="en-GB" dirty="0" err="1"/>
              <a:t>bg</a:t>
            </a:r>
            <a:r>
              <a:rPr lang="en-GB" dirty="0"/>
              <a:t> (amplitude).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36E026-592B-2E05-5F6D-C7097A2732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915" y="950474"/>
            <a:ext cx="3354382" cy="2404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0676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82A00E-0F6F-6ADA-1686-416CC14A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39" y="2369489"/>
            <a:ext cx="4825201" cy="4393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1EC9B5-62CE-7895-CF35-C0BEE2F96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45" y="2369489"/>
            <a:ext cx="4908615" cy="4469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D71B7C-47E1-11E4-3255-A45FCE29B9BA}"/>
              </a:ext>
            </a:extLst>
          </p:cNvPr>
          <p:cNvSpPr txBox="1"/>
          <p:nvPr/>
        </p:nvSpPr>
        <p:spPr>
          <a:xfrm>
            <a:off x="1176793" y="1971923"/>
            <a:ext cx="1149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3E1C61-9967-6A8B-9F0D-D5E17C1A2128}"/>
              </a:ext>
            </a:extLst>
          </p:cNvPr>
          <p:cNvSpPr txBox="1"/>
          <p:nvPr/>
        </p:nvSpPr>
        <p:spPr>
          <a:xfrm>
            <a:off x="8451375" y="1898854"/>
            <a:ext cx="2548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 with J0+J2+J4 (J6==0)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EC98D9-FC16-C855-C756-6C66F71CC7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1138" y="501981"/>
            <a:ext cx="3677655" cy="23853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7BCF82-243A-6217-AB20-6A3B6CB22290}"/>
              </a:ext>
            </a:extLst>
          </p:cNvPr>
          <p:cNvSpPr txBox="1"/>
          <p:nvPr/>
        </p:nvSpPr>
        <p:spPr>
          <a:xfrm>
            <a:off x="513567" y="338203"/>
            <a:ext cx="245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Fitting </a:t>
            </a:r>
            <a:r>
              <a:rPr lang="en-GB"/>
              <a:t>with form-factor</a:t>
            </a:r>
          </a:p>
        </p:txBody>
      </p:sp>
    </p:spTree>
    <p:extLst>
      <p:ext uri="{BB962C8B-B14F-4D97-AF65-F5344CB8AC3E}">
        <p14:creationId xmlns:p14="http://schemas.microsoft.com/office/powerpoint/2010/main" val="262819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8FF2728-2CD0-D50F-CEFC-781FA94F9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174625"/>
            <a:ext cx="4170517" cy="29622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A91BA96-1C10-E3D9-7791-38EBE4AAC5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9417" y="127001"/>
            <a:ext cx="3764493" cy="32267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BFC53DA-23CE-E3FF-0CD2-350E5B3DD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" y="3429000"/>
            <a:ext cx="4032250" cy="3103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D75EA3-1E28-48C5-288F-16BD240A9C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802" y="3841750"/>
            <a:ext cx="4355722" cy="2415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024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7EB341-FF08-3151-53E4-362A41B1426B}"/>
              </a:ext>
            </a:extLst>
          </p:cNvPr>
          <p:cNvSpPr txBox="1"/>
          <p:nvPr/>
        </p:nvSpPr>
        <p:spPr>
          <a:xfrm>
            <a:off x="645066" y="2031101"/>
            <a:ext cx="4282984" cy="35119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Comparison between form-factors used in 2017 and in 2026. The result is in 2017 we were using 1moment FF and 2026 – 3 moments. 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dirty="0"/>
              <a:t>1moment FF are identical, additional moments provide longer tail.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4A7CD4-5768-9F9F-9D5F-27294DD2E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738" y="1649302"/>
            <a:ext cx="5628018" cy="3326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287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145032</TotalTime>
  <Words>363</Words>
  <Application>Microsoft Office PowerPoint</Application>
  <PresentationFormat>Widescreen</PresentationFormat>
  <Paragraphs>40</Paragraphs>
  <Slides>19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51</cp:revision>
  <dcterms:created xsi:type="dcterms:W3CDTF">2025-07-08T11:01:33Z</dcterms:created>
  <dcterms:modified xsi:type="dcterms:W3CDTF">2026-08-11T18:31:22Z</dcterms:modified>
</cp:coreProperties>
</file>