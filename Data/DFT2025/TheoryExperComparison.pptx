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80" r:id="rId10"/>
    <p:sldId id="272" r:id="rId11"/>
    <p:sldId id="277" r:id="rId12"/>
    <p:sldId id="278" r:id="rId13"/>
    <p:sldId id="268" r:id="rId14"/>
    <p:sldId id="269" r:id="rId15"/>
    <p:sldId id="271" r:id="rId16"/>
    <p:sldId id="273" r:id="rId17"/>
    <p:sldId id="276" r:id="rId18"/>
    <p:sldId id="279" r:id="rId19"/>
    <p:sldId id="281" r:id="rId20"/>
    <p:sldId id="282" r:id="rId21"/>
    <p:sldId id="285" r:id="rId22"/>
    <p:sldId id="286" r:id="rId23"/>
    <p:sldId id="288" r:id="rId24"/>
    <p:sldId id="287" r:id="rId25"/>
    <p:sldId id="289" r:id="rId26"/>
    <p:sldId id="290" r:id="rId27"/>
    <p:sldId id="291" r:id="rId28"/>
    <p:sldId id="292" r:id="rId29"/>
    <p:sldId id="283" r:id="rId30"/>
    <p:sldId id="274" r:id="rId31"/>
    <p:sldId id="264" r:id="rId32"/>
    <p:sldId id="270" r:id="rId33"/>
    <p:sldId id="263" r:id="rId34"/>
    <p:sldId id="265" r:id="rId35"/>
    <p:sldId id="27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6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2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F5196-8AA5-4443-BAE3-5928F0EB750E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FFDB57-1E66-47D6-A1CA-F724767A65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85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FDB57-1E66-47D6-A1CA-F724767A65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629B-D231-A0D5-2F2B-565EFDA18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284CC2-7769-D92D-2ED9-3E507E8DC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4A701-72EA-CE8B-045F-777BE3A67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01E4A-980B-3D38-96A5-E4C7FAEE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52BD8-59C9-FF12-ACF2-3F16C526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35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9D6-2CBE-2084-746C-027689E1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B45BD-A4BB-E591-D03E-122C83D48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7219F-B391-612F-EBB1-6E3C1CA0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68D5E-3790-64E0-256A-D42DFC37E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4AA80-BB23-3C87-A9F7-9827D026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581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4066D-85E2-0FF4-9DED-C96D0547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C97DA-EAAC-1F0F-0446-A4F480270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95AD0-4BAE-902A-6A3A-E1BAE048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06B66-CEAA-99AF-BD2A-D117FC34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AD54-92ED-C6FA-B381-7EDC8207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38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2A26-B9D0-D7BD-C7B7-D5D9A67D1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3C2B1-D686-1386-F147-3341F8B02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E726E-9156-FDA5-72F9-558145349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4F436-4BC2-2830-95C0-279028E72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4E7EB9-C4A8-7D5C-AE8E-F882471C4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D4D3E-0C2A-2577-A99D-B4447FAD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395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F7C29-8DE5-ADD4-1833-39BE0DE7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E351A-ED67-BD52-94F7-81F348D6E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90209-DF08-325E-ED1C-9A9A8C32B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9826D-98E0-AC39-DCC7-3473C1F16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77727-83CA-B6B1-86F8-4B81F752EE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519017-8789-1D7C-7577-6B25379B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F4664D-593E-A598-18B2-C68A1D82B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5DDD4-890B-2DF8-C03A-15FF7F77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0898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880D-71FE-117D-1B54-369D06CDC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C11024-C9EE-07CB-2FAC-7CEBD575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34AC2-33FE-72E8-D97E-0F6631C9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47BC3-FD1B-FFA9-7D9D-2085D0365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730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8485A-05BE-C8CA-E919-58CAF9A3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18505F-E044-410D-C96B-648AD3852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64DA5-EFA5-97B7-F52A-E9D5A890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78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78F8-95F9-1298-6148-3113D137E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E2AE-5662-9A83-B908-79D181CB1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019E5-0E38-29E2-4314-6D6047E1C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3FAEC-6440-DFF2-02F3-2508DD59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61B5C8-2B00-8499-BD8A-532E52A9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1FAED-87CD-FC7A-A62A-5F2B4CD0D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53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85705-3181-088E-9AEA-8F2D4C7E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6A9254-DAD4-11BA-DEC3-FAB4B3982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D2C7A-FD98-8D7B-3194-839A599D4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212CA-C0BD-5860-9FE1-F220B70F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DE22B9-184C-C074-234B-EB729D4E9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1EB30-AB3A-717C-900A-2596A8890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699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8B65-5BD6-5088-9751-793350A9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190EC-0320-08DC-BDA3-6C89A3575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F6B3-D12B-0A94-728F-226F5025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40779-2556-A502-8F6A-04673B07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057D5-D541-FF79-719E-B9F95BE5D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14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8605F-8E15-9151-46E5-1DF0829A2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EB7351-F93D-68A5-B403-D95024C87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56311-57BF-F0E9-DABD-B69F8CCB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6BE71-41A8-EBD4-3C29-FADA0C0E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FB9A2-273A-109C-52C0-0DC51505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35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5538E8-F7A2-4A24-D9C9-2280F198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DEEBE8-922C-6E18-29E9-2FC7CE8AD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31DE3-86D7-A236-BBAD-84704FB81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5D086-41C3-45A3-9AA5-B506825A19E0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FCE69-7D14-7827-90D1-91A3FE3DE9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1EF47-A272-A80D-8F09-811DC5C64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48BEA9-F705-4A57-BACB-257FB724BE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836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3.png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19.emf"/><Relationship Id="rId7" Type="http://schemas.openxmlformats.org/officeDocument/2006/relationships/image" Target="../media/image2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7" Type="http://schemas.openxmlformats.org/officeDocument/2006/relationships/image" Target="../media/image41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emf"/><Relationship Id="rId5" Type="http://schemas.openxmlformats.org/officeDocument/2006/relationships/image" Target="../media/image45.emf"/><Relationship Id="rId4" Type="http://schemas.openxmlformats.org/officeDocument/2006/relationships/image" Target="../media/image4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emf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emf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emf"/><Relationship Id="rId5" Type="http://schemas.openxmlformats.org/officeDocument/2006/relationships/image" Target="../media/image58.emf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emf"/><Relationship Id="rId5" Type="http://schemas.openxmlformats.org/officeDocument/2006/relationships/image" Target="../media/image70.emf"/><Relationship Id="rId4" Type="http://schemas.openxmlformats.org/officeDocument/2006/relationships/image" Target="../media/image6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emf"/><Relationship Id="rId4" Type="http://schemas.openxmlformats.org/officeDocument/2006/relationships/image" Target="../media/image8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36CA15E-01B3-BE4D-EF9B-474AC260A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310257"/>
            <a:ext cx="3725333" cy="279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5DFB3B-8727-6B8D-C88A-80EB39729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567" y="285750"/>
            <a:ext cx="3970867" cy="29781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A52BA3-232E-63DD-6512-9CB70BCCC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635" y="3486151"/>
            <a:ext cx="3852333" cy="2889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B54FC6-E05E-B369-936F-B153AED224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81" r="18929"/>
          <a:stretch/>
        </p:blipFill>
        <p:spPr>
          <a:xfrm>
            <a:off x="8365068" y="3218935"/>
            <a:ext cx="3397250" cy="33021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07D4AD-6FA9-8AFF-9691-D58F17A3F8D7}"/>
                  </a:ext>
                </a:extLst>
              </p:cNvPr>
              <p:cNvSpPr txBox="1"/>
              <p:nvPr/>
            </p:nvSpPr>
            <p:spPr>
              <a:xfrm>
                <a:off x="8753524" y="609600"/>
                <a:ext cx="2245487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𝑆𝑐𝑎𝑙𝑒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07D4AD-6FA9-8AFF-9691-D58F17A3F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524" y="609600"/>
                <a:ext cx="2245487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660CE49-5926-51B9-8A44-B8827C1B3F21}"/>
              </a:ext>
            </a:extLst>
          </p:cNvPr>
          <p:cNvSpPr txBox="1"/>
          <p:nvPr/>
        </p:nvSpPr>
        <p:spPr>
          <a:xfrm>
            <a:off x="8612697" y="1429406"/>
            <a:ext cx="3360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C=72.7mb/(4*pi*</a:t>
            </a:r>
            <a:r>
              <a:rPr lang="en-GB" dirty="0" err="1"/>
              <a:t>dW</a:t>
            </a:r>
            <a:r>
              <a:rPr lang="en-GB" dirty="0"/>
              <a:t>*</a:t>
            </a:r>
            <a:r>
              <a:rPr lang="en-GB" dirty="0" err="1"/>
              <a:t>RyTomEv</a:t>
            </a:r>
            <a:r>
              <a:rPr lang="en-GB" dirty="0"/>
              <a:t>),</a:t>
            </a:r>
          </a:p>
          <a:p>
            <a:r>
              <a:rPr lang="en-GB" dirty="0"/>
              <a:t>a = </a:t>
            </a:r>
            <a:r>
              <a:rPr lang="en-GB" sz="1800" b="0" i="0" dirty="0">
                <a:effectLst/>
                <a:latin typeface="Menlo"/>
              </a:rPr>
              <a:t>1.451meV</a:t>
            </a:r>
            <a:r>
              <a:rPr lang="en-GB" sz="1800" b="0" i="0" baseline="30000" dirty="0">
                <a:effectLst/>
                <a:latin typeface="Menlo"/>
              </a:rPr>
              <a:t>-</a:t>
            </a:r>
            <a:r>
              <a:rPr lang="en-GB" baseline="30000" dirty="0">
                <a:latin typeface="Menlo"/>
              </a:rPr>
              <a:t>1</a:t>
            </a:r>
            <a:endParaRPr lang="en-GB" sz="1800" b="0" i="0" baseline="30000" dirty="0">
              <a:effectLst/>
              <a:latin typeface="Menlo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FC1C49-5CDA-DC23-D236-D970D6F673CE}"/>
              </a:ext>
            </a:extLst>
          </p:cNvPr>
          <p:cNvSpPr txBox="1"/>
          <p:nvPr/>
        </p:nvSpPr>
        <p:spPr>
          <a:xfrm>
            <a:off x="9709392" y="2751693"/>
            <a:ext cx="672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meV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CC9271-041E-4A9A-7CBF-142CDA0D51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158" y="609600"/>
            <a:ext cx="3511146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1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BBAEB-E5E9-7D91-9BE4-6FE6ACB7E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0189" y="513031"/>
            <a:ext cx="6129821" cy="10837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743646-F1B2-501E-BA76-704367DB2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979" y="796661"/>
            <a:ext cx="3475541" cy="5164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381C46-B5B4-677A-E053-98158F72F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783" y="1712894"/>
            <a:ext cx="3594073" cy="160865"/>
          </a:xfrm>
          <a:prstGeom prst="rect">
            <a:avLst/>
          </a:prstGeom>
        </p:spPr>
      </p:pic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E2751E87-45D9-AB2A-1E2D-9BC5F4F1DE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9176054"/>
              </p:ext>
            </p:extLst>
          </p:nvPr>
        </p:nvGraphicFramePr>
        <p:xfrm>
          <a:off x="8528050" y="48863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4120" imgH="177480" progId="Equation.DSMT4">
                  <p:embed/>
                </p:oleObj>
              </mc:Choice>
              <mc:Fallback>
                <p:oleObj name="Equation" r:id="rId5" imgW="114120" imgH="1774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E2751E87-45D9-AB2A-1E2D-9BC5F4F1DE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28050" y="48863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7CF93D0-3EB1-D733-EE3D-79FD07E00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506922"/>
              </p:ext>
            </p:extLst>
          </p:nvPr>
        </p:nvGraphicFramePr>
        <p:xfrm>
          <a:off x="6496050" y="329882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4120" imgH="177480" progId="Equation.DSMT4">
                  <p:embed/>
                </p:oleObj>
              </mc:Choice>
              <mc:Fallback>
                <p:oleObj name="Equation" r:id="rId7" imgW="114120" imgH="1774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7CF93D0-3EB1-D733-EE3D-79FD07E004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96050" y="3298825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7053646C-33FD-1ED3-3C66-D2EF0E2C61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8296" y="2171930"/>
            <a:ext cx="2730480" cy="203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8FE60-F7B9-BCE4-91E8-9B3E9164C44C}"/>
                  </a:ext>
                </a:extLst>
              </p:cNvPr>
              <p:cNvSpPr txBox="1"/>
              <p:nvPr/>
            </p:nvSpPr>
            <p:spPr>
              <a:xfrm>
                <a:off x="486611" y="2912753"/>
                <a:ext cx="11218777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𝑑𝐸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r>
                      <a:rPr lang="en-GB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]</m:t>
                                </m:r>
                              </m:num>
                              <m:den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"</m:t>
                            </m:r>
                          </m:sup>
                        </m:sSup>
                      </m:num>
                      <m:den>
                        <m: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GB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GB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𝑅𝑦</m:t>
                            </m:r>
                          </m:den>
                        </m:f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2.818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−30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𝑚𝐵𝑎𝑟𝑛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∗1.36057∗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𝑚𝑒𝑉</m:t>
                            </m:r>
                          </m:e>
                        </m:d>
                      </m:den>
                    </m:f>
                  </m:oMath>
                </a14:m>
                <a:r>
                  <a:rPr lang="en-GB" dirty="0"/>
                  <a:t>=1.6997*10</a:t>
                </a:r>
                <a:r>
                  <a:rPr lang="en-GB" baseline="30000" dirty="0"/>
                  <a:t>-3</a:t>
                </a:r>
                <a:r>
                  <a:rPr lang="en-GB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"</m:t>
                        </m:r>
                      </m:sup>
                    </m:sSup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GB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𝑚𝐵𝑎𝑟𝑛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𝑚𝑒𝑉</m:t>
                            </m:r>
                          </m:den>
                        </m:f>
                      </m:e>
                    </m:d>
                  </m:oMath>
                </a14:m>
                <a:endParaRPr lang="en-GB" baseline="30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88FE60-F7B9-BCE4-91E8-9B3E9164C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11" y="2912753"/>
                <a:ext cx="11218777" cy="563872"/>
              </a:xfrm>
              <a:prstGeom prst="rect">
                <a:avLst/>
              </a:prstGeom>
              <a:blipFill>
                <a:blip r:embed="rId9"/>
                <a:stretch>
                  <a:fillRect l="-54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A9AD3E-1411-FB2D-9ABF-9269C6561508}"/>
                  </a:ext>
                </a:extLst>
              </p:cNvPr>
              <p:cNvSpPr txBox="1"/>
              <p:nvPr/>
            </p:nvSpPr>
            <p:spPr>
              <a:xfrm>
                <a:off x="535486" y="2254757"/>
                <a:ext cx="359183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GB" i="0"/>
                      <m:t>13605.693</m:t>
                    </m:r>
                  </m:oMath>
                </a14:m>
                <a:r>
                  <a:rPr lang="en-GB" dirty="0"/>
                  <a:t>*meV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A9AD3E-1411-FB2D-9ABF-9269C6561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6" y="2254757"/>
                <a:ext cx="3591839" cy="276999"/>
              </a:xfrm>
              <a:prstGeom prst="rect">
                <a:avLst/>
              </a:prstGeom>
              <a:blipFill>
                <a:blip r:embed="rId10"/>
                <a:stretch>
                  <a:fillRect l="-3056" t="-26667" b="-5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81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5D8701-9A59-F66A-822E-B7928EA41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405" y="394973"/>
            <a:ext cx="3752610" cy="298503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4D5EB8-C6DF-E9B3-9A2E-DB776BCADABE}"/>
              </a:ext>
            </a:extLst>
          </p:cNvPr>
          <p:cNvSpPr txBox="1"/>
          <p:nvPr/>
        </p:nvSpPr>
        <p:spPr>
          <a:xfrm>
            <a:off x="609599" y="293511"/>
            <a:ext cx="577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LDA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2FA8A-4A23-D441-7D31-5F7D03291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899" y="319366"/>
            <a:ext cx="4080850" cy="3060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C71321-BF98-2045-A96E-DD9712E32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5" y="3571020"/>
            <a:ext cx="4080851" cy="3060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B242D4-581A-7DEE-BE1E-A459DD3BCD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067" y="3571020"/>
            <a:ext cx="3826933" cy="287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B6F1E71-3306-3687-C556-1BF4C5818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071" y="3637716"/>
            <a:ext cx="3847659" cy="306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2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961C8-FAC3-0A66-A455-4A34C61A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A5D3E04-0B03-4F36-4692-AE76A6F51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91" y="446310"/>
            <a:ext cx="4011218" cy="31907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1FF745-91E8-67C9-7F91-0D6BC9086B0D}"/>
              </a:ext>
            </a:extLst>
          </p:cNvPr>
          <p:cNvSpPr txBox="1"/>
          <p:nvPr/>
        </p:nvSpPr>
        <p:spPr>
          <a:xfrm>
            <a:off x="609599" y="293511"/>
            <a:ext cx="577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GSGW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71EA15-A5BA-EB24-EB20-CD74C1780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359879"/>
            <a:ext cx="4080850" cy="30606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730BAD-7D58-F0BC-1681-4E2FB5999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015" y="3571020"/>
            <a:ext cx="4080851" cy="30606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269BFC-1CF2-D053-5351-D676324BC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5067" y="3571020"/>
            <a:ext cx="3826933" cy="287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978444-03C3-A30C-ED76-DD98758956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92" y="3637051"/>
            <a:ext cx="4011217" cy="319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79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EDD37E-9FB7-7BEE-1591-30058E38C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428" y="386514"/>
            <a:ext cx="4373599" cy="3181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0178D1-0597-34AF-BB7A-7BD643E73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176" y="327864"/>
            <a:ext cx="4375087" cy="324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8242E98-FAB2-F484-D992-7CFBE40FA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05" y="3902102"/>
            <a:ext cx="3363500" cy="25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5354FE-F70F-ABB2-8E31-75DFD8BE1D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289" y="3902102"/>
            <a:ext cx="3363500" cy="25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73CE27-E135-AAB8-9147-C5A7411605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0173" y="3902102"/>
            <a:ext cx="3363500" cy="252000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FBE6137-C0D3-BE11-40FD-CA26EC8C8B13}"/>
              </a:ext>
            </a:extLst>
          </p:cNvPr>
          <p:cNvCxnSpPr>
            <a:cxnSpLocks/>
          </p:cNvCxnSpPr>
          <p:nvPr/>
        </p:nvCxnSpPr>
        <p:spPr>
          <a:xfrm flipV="1">
            <a:off x="1749287" y="2636520"/>
            <a:ext cx="574813" cy="244436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51B9BFB-A8CF-6807-1BD2-008BE620E4A4}"/>
              </a:ext>
            </a:extLst>
          </p:cNvPr>
          <p:cNvCxnSpPr>
            <a:cxnSpLocks/>
          </p:cNvCxnSpPr>
          <p:nvPr/>
        </p:nvCxnSpPr>
        <p:spPr>
          <a:xfrm flipH="1" flipV="1">
            <a:off x="2440788" y="2377440"/>
            <a:ext cx="4258399" cy="185166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054386-5A80-D094-32BE-093733F58190}"/>
              </a:ext>
            </a:extLst>
          </p:cNvPr>
          <p:cNvSpPr txBox="1"/>
          <p:nvPr/>
        </p:nvSpPr>
        <p:spPr>
          <a:xfrm>
            <a:off x="316089" y="143198"/>
            <a:ext cx="577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LDA spaghetti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012F25-708D-D22F-9D93-D97C03B174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9337" y="512530"/>
            <a:ext cx="3363500" cy="28148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5EF315-B90C-B4A5-6F22-6F88913649D1}"/>
              </a:ext>
            </a:extLst>
          </p:cNvPr>
          <p:cNvSpPr txBox="1"/>
          <p:nvPr/>
        </p:nvSpPr>
        <p:spPr>
          <a:xfrm>
            <a:off x="9245600" y="3371850"/>
            <a:ext cx="2514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Linear spin wave theory</a:t>
            </a:r>
          </a:p>
          <a:p>
            <a:r>
              <a:rPr lang="en-GB" dirty="0"/>
              <a:t>fitting</a:t>
            </a:r>
          </a:p>
        </p:txBody>
      </p:sp>
    </p:spTree>
    <p:extLst>
      <p:ext uri="{BB962C8B-B14F-4D97-AF65-F5344CB8AC3E}">
        <p14:creationId xmlns:p14="http://schemas.microsoft.com/office/powerpoint/2010/main" val="1578278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A21B-052A-058B-EF35-0CD8AA9C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F7E3CA-16CD-59FE-3F33-4A7EAD0C7A05}"/>
              </a:ext>
            </a:extLst>
          </p:cNvPr>
          <p:cNvSpPr txBox="1"/>
          <p:nvPr/>
        </p:nvSpPr>
        <p:spPr>
          <a:xfrm>
            <a:off x="316089" y="143198"/>
            <a:ext cx="5779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GSGW spaghetti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E3F33-5EEB-3C03-7529-A4BF61E05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674336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402F69-B364-94B0-D38C-2B671EF92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8864" y="67433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474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C7AE46-76A4-79D1-2690-F811AD4D0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542344"/>
            <a:ext cx="6998606" cy="51061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0B62A9-9274-495C-5BC6-200010A4D07F}"/>
              </a:ext>
            </a:extLst>
          </p:cNvPr>
          <p:cNvSpPr txBox="1"/>
          <p:nvPr/>
        </p:nvSpPr>
        <p:spPr>
          <a:xfrm>
            <a:off x="431800" y="444500"/>
            <a:ext cx="104901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Amplitude of symmetrised and non- symmetrised SW with and without Magnetic form-factor corrections</a:t>
            </a:r>
          </a:p>
          <a:p>
            <a:r>
              <a:rPr lang="en-GB" dirty="0"/>
              <a:t>Black line – symmetrised with correction</a:t>
            </a:r>
          </a:p>
          <a:p>
            <a:r>
              <a:rPr lang="en-GB" dirty="0"/>
              <a:t>Red line – non-symmetrised</a:t>
            </a:r>
          </a:p>
          <a:p>
            <a:r>
              <a:rPr lang="en-GB" dirty="0"/>
              <a:t>Blue line – symmetrised without correction.</a:t>
            </a:r>
          </a:p>
        </p:txBody>
      </p:sp>
    </p:spTree>
    <p:extLst>
      <p:ext uri="{BB962C8B-B14F-4D97-AF65-F5344CB8AC3E}">
        <p14:creationId xmlns:p14="http://schemas.microsoft.com/office/powerpoint/2010/main" val="950007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C1B1D5-B951-F089-67A6-1F7B28AE2AEE}"/>
              </a:ext>
            </a:extLst>
          </p:cNvPr>
          <p:cNvSpPr txBox="1"/>
          <p:nvPr/>
        </p:nvSpPr>
        <p:spPr>
          <a:xfrm>
            <a:off x="702733" y="584200"/>
            <a:ext cx="1000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Problem with fitting. Figure 2(5) converges to different amplitude and J, which is not on smooth J line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CB36F6-0C43-D842-7329-9476F7A3B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953532"/>
            <a:ext cx="10213571" cy="457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92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3DC74A-CD31-AB08-E1E3-BF52817C4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470" y="581378"/>
            <a:ext cx="8945570" cy="53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903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CA048B-0AB8-C9DA-29D3-0537C361C5FD}"/>
              </a:ext>
            </a:extLst>
          </p:cNvPr>
          <p:cNvSpPr txBox="1"/>
          <p:nvPr/>
        </p:nvSpPr>
        <p:spPr>
          <a:xfrm>
            <a:off x="807729" y="336759"/>
            <a:ext cx="9839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Problem with magnetic form factors? Peak height for green peaks at ~±1.5 is almost twice of ~±0.5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E488FF-2D83-0429-36CA-173C8DCB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3" y="1641524"/>
            <a:ext cx="5494937" cy="41008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B3E1308-DC15-BB91-9B07-1D38E323937F}"/>
              </a:ext>
            </a:extLst>
          </p:cNvPr>
          <p:cNvSpPr/>
          <p:nvPr/>
        </p:nvSpPr>
        <p:spPr>
          <a:xfrm>
            <a:off x="1582821" y="2080126"/>
            <a:ext cx="58821" cy="31906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28B9A-E017-5984-2DC5-D2257D07FE1E}"/>
              </a:ext>
            </a:extLst>
          </p:cNvPr>
          <p:cNvSpPr/>
          <p:nvPr/>
        </p:nvSpPr>
        <p:spPr>
          <a:xfrm rot="5400000">
            <a:off x="3178121" y="3659833"/>
            <a:ext cx="58821" cy="31906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DD1431-3B2D-0D28-889F-D97765E2994D}"/>
              </a:ext>
            </a:extLst>
          </p:cNvPr>
          <p:cNvSpPr/>
          <p:nvPr/>
        </p:nvSpPr>
        <p:spPr>
          <a:xfrm>
            <a:off x="2255921" y="2057624"/>
            <a:ext cx="58821" cy="31906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C90C8C-4A18-A685-3FC9-D9088634E51E}"/>
              </a:ext>
            </a:extLst>
          </p:cNvPr>
          <p:cNvSpPr/>
          <p:nvPr/>
        </p:nvSpPr>
        <p:spPr>
          <a:xfrm rot="5400000">
            <a:off x="3178121" y="3028849"/>
            <a:ext cx="58821" cy="31906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1D82D1-A7DA-3D62-BBF3-A7930961C604}"/>
              </a:ext>
            </a:extLst>
          </p:cNvPr>
          <p:cNvSpPr/>
          <p:nvPr/>
        </p:nvSpPr>
        <p:spPr>
          <a:xfrm>
            <a:off x="2986171" y="2093943"/>
            <a:ext cx="58821" cy="31906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73FE00-26C0-9273-25AD-5A5A70E28784}"/>
              </a:ext>
            </a:extLst>
          </p:cNvPr>
          <p:cNvSpPr/>
          <p:nvPr/>
        </p:nvSpPr>
        <p:spPr>
          <a:xfrm rot="5400000">
            <a:off x="3178120" y="2308036"/>
            <a:ext cx="58821" cy="31906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5B4536F-2619-BAD5-6833-FF3C47801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2340" y="1511524"/>
            <a:ext cx="5527509" cy="433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53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6147F-01B3-479D-C9CD-6E364780A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F8B91-837C-D35D-3980-7A55BCA8D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226" y="1586155"/>
            <a:ext cx="5807074" cy="4179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C08B84-FDAD-8D48-0394-ACB143144429}"/>
              </a:ext>
            </a:extLst>
          </p:cNvPr>
          <p:cNvSpPr txBox="1"/>
          <p:nvPr/>
        </p:nvSpPr>
        <p:spPr>
          <a:xfrm>
            <a:off x="807728" y="337549"/>
            <a:ext cx="9839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Problem with magnetic form factors? Peak height for green peaks at ~±1.5 is almost twice of ~±0.5</a:t>
            </a:r>
          </a:p>
          <a:p>
            <a:r>
              <a:rPr lang="en-GB" dirty="0" err="1"/>
              <a:t>Const</a:t>
            </a:r>
            <a:r>
              <a:rPr lang="en-GB" dirty="0"/>
              <a:t> background set at 0.02, peak amplitude selected manually.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D27A0-FB93-8925-F366-819D0C7AA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531" y="1260879"/>
            <a:ext cx="6004024" cy="44728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6D9A5E-727B-B754-0F30-D6E7E469E3C5}"/>
              </a:ext>
            </a:extLst>
          </p:cNvPr>
          <p:cNvSpPr/>
          <p:nvPr/>
        </p:nvSpPr>
        <p:spPr>
          <a:xfrm>
            <a:off x="1582821" y="2080126"/>
            <a:ext cx="58821" cy="3190602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91768F-6683-BB34-E280-ACFA8BFB7EFA}"/>
              </a:ext>
            </a:extLst>
          </p:cNvPr>
          <p:cNvSpPr/>
          <p:nvPr/>
        </p:nvSpPr>
        <p:spPr>
          <a:xfrm rot="5400000">
            <a:off x="3178121" y="3659833"/>
            <a:ext cx="58821" cy="3190602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F67783-2C53-FD74-D6A7-C1EF932BFF0C}"/>
              </a:ext>
            </a:extLst>
          </p:cNvPr>
          <p:cNvSpPr/>
          <p:nvPr/>
        </p:nvSpPr>
        <p:spPr>
          <a:xfrm>
            <a:off x="2240399" y="2069736"/>
            <a:ext cx="112629" cy="3190602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003580-713C-F8EA-7C09-6364232CA56C}"/>
              </a:ext>
            </a:extLst>
          </p:cNvPr>
          <p:cNvSpPr/>
          <p:nvPr/>
        </p:nvSpPr>
        <p:spPr>
          <a:xfrm>
            <a:off x="2991638" y="2093943"/>
            <a:ext cx="108000" cy="3190602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D46E2B-C261-7871-750E-C6F4483EE93A}"/>
              </a:ext>
            </a:extLst>
          </p:cNvPr>
          <p:cNvSpPr/>
          <p:nvPr/>
        </p:nvSpPr>
        <p:spPr>
          <a:xfrm rot="5400000">
            <a:off x="3176886" y="2302346"/>
            <a:ext cx="108000" cy="3190602"/>
          </a:xfrm>
          <a:prstGeom prst="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6BAE54-AC09-655B-C710-B3B359C7D20E}"/>
              </a:ext>
            </a:extLst>
          </p:cNvPr>
          <p:cNvSpPr/>
          <p:nvPr/>
        </p:nvSpPr>
        <p:spPr>
          <a:xfrm rot="5400000">
            <a:off x="3121808" y="2996827"/>
            <a:ext cx="112629" cy="3190602"/>
          </a:xfrm>
          <a:prstGeom prst="rect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208023-680A-40F7-1044-41AF4D72ED57}"/>
              </a:ext>
            </a:extLst>
          </p:cNvPr>
          <p:cNvSpPr txBox="1"/>
          <p:nvPr/>
        </p:nvSpPr>
        <p:spPr>
          <a:xfrm>
            <a:off x="9772648" y="5568950"/>
            <a:ext cx="62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2.33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5BE9A-5E4C-CB90-BE08-99E9F53F0E58}"/>
              </a:ext>
            </a:extLst>
          </p:cNvPr>
          <p:cNvSpPr txBox="1"/>
          <p:nvPr/>
        </p:nvSpPr>
        <p:spPr>
          <a:xfrm>
            <a:off x="10307173" y="552870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Sqrt(1+2.7^2)</a:t>
            </a:r>
            <a:r>
              <a:rPr lang="en-GB" dirty="0">
                <a:solidFill>
                  <a:srgbClr val="FF0000"/>
                </a:solidFill>
              </a:rPr>
              <a:t>=2.88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A88C94-A222-AF50-A63E-BFB3E27CF29C}"/>
              </a:ext>
            </a:extLst>
          </p:cNvPr>
          <p:cNvSpPr txBox="1"/>
          <p:nvPr/>
        </p:nvSpPr>
        <p:spPr>
          <a:xfrm>
            <a:off x="8725708" y="559700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B050"/>
                </a:solidFill>
              </a:rPr>
              <a:t>2.59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6E06BD-D724-BDC4-A45F-E5169625E39F}"/>
              </a:ext>
            </a:extLst>
          </p:cNvPr>
          <p:cNvSpPr txBox="1"/>
          <p:nvPr/>
        </p:nvSpPr>
        <p:spPr>
          <a:xfrm>
            <a:off x="5866715" y="5597004"/>
            <a:ext cx="1763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00B050"/>
                </a:solidFill>
              </a:rPr>
              <a:t>Sqrt(2^2+0.3^2)=</a:t>
            </a:r>
            <a:r>
              <a:rPr lang="en-GB" dirty="0">
                <a:solidFill>
                  <a:srgbClr val="00B050"/>
                </a:solidFill>
              </a:rPr>
              <a:t>2.03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A7D9F3-47FD-4666-B14D-B74E8CDD3064}"/>
              </a:ext>
            </a:extLst>
          </p:cNvPr>
          <p:cNvCxnSpPr>
            <a:cxnSpLocks/>
          </p:cNvCxnSpPr>
          <p:nvPr/>
        </p:nvCxnSpPr>
        <p:spPr>
          <a:xfrm>
            <a:off x="7004050" y="1898650"/>
            <a:ext cx="0" cy="36385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F3308D-C7A8-0897-794D-AC70E247FF41}"/>
              </a:ext>
            </a:extLst>
          </p:cNvPr>
          <p:cNvCxnSpPr>
            <a:cxnSpLocks/>
          </p:cNvCxnSpPr>
          <p:nvPr/>
        </p:nvCxnSpPr>
        <p:spPr>
          <a:xfrm>
            <a:off x="9036050" y="1930400"/>
            <a:ext cx="0" cy="36385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B187F5-65C7-8203-072B-C49413C41194}"/>
              </a:ext>
            </a:extLst>
          </p:cNvPr>
          <p:cNvCxnSpPr>
            <a:cxnSpLocks/>
          </p:cNvCxnSpPr>
          <p:nvPr/>
        </p:nvCxnSpPr>
        <p:spPr>
          <a:xfrm>
            <a:off x="10140950" y="2355850"/>
            <a:ext cx="0" cy="311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3BD3CF-E62F-ABC7-04FF-F981EF505E5C}"/>
              </a:ext>
            </a:extLst>
          </p:cNvPr>
          <p:cNvCxnSpPr>
            <a:cxnSpLocks/>
          </p:cNvCxnSpPr>
          <p:nvPr/>
        </p:nvCxnSpPr>
        <p:spPr>
          <a:xfrm>
            <a:off x="10591800" y="3295650"/>
            <a:ext cx="0" cy="2159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554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70EBD-CD40-A1FB-76F1-6F2C247F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3DC2E-2570-82E3-78F4-23489D167D51}"/>
              </a:ext>
            </a:extLst>
          </p:cNvPr>
          <p:cNvSpPr txBox="1"/>
          <p:nvPr/>
        </p:nvSpPr>
        <p:spPr>
          <a:xfrm>
            <a:off x="807729" y="336759"/>
            <a:ext cx="98396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Problem with magnetic form factors?  Different issue. Peaks fitted with common background for each colour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6A46D0-248F-7996-9F39-DDCCC25BD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3" y="1641524"/>
            <a:ext cx="5494937" cy="41008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613F42A-8BE9-5865-BB2B-51C11D2A3835}"/>
              </a:ext>
            </a:extLst>
          </p:cNvPr>
          <p:cNvSpPr/>
          <p:nvPr/>
        </p:nvSpPr>
        <p:spPr>
          <a:xfrm>
            <a:off x="1582821" y="2080126"/>
            <a:ext cx="58821" cy="31906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0CFE9E-B60D-4F40-C9DF-13DBC300D034}"/>
              </a:ext>
            </a:extLst>
          </p:cNvPr>
          <p:cNvSpPr/>
          <p:nvPr/>
        </p:nvSpPr>
        <p:spPr>
          <a:xfrm rot="5400000">
            <a:off x="3178121" y="3659833"/>
            <a:ext cx="58821" cy="319060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A7B773-537B-80DD-BC19-8212F93B1CDD}"/>
              </a:ext>
            </a:extLst>
          </p:cNvPr>
          <p:cNvSpPr/>
          <p:nvPr/>
        </p:nvSpPr>
        <p:spPr>
          <a:xfrm>
            <a:off x="2255921" y="2057624"/>
            <a:ext cx="58821" cy="31906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55887-656D-C5D7-AB45-8AB41CC24839}"/>
              </a:ext>
            </a:extLst>
          </p:cNvPr>
          <p:cNvSpPr/>
          <p:nvPr/>
        </p:nvSpPr>
        <p:spPr>
          <a:xfrm rot="5400000">
            <a:off x="3178121" y="3028849"/>
            <a:ext cx="58821" cy="31906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CEA2D1-8C7E-6DE8-5F19-C805A638DA29}"/>
              </a:ext>
            </a:extLst>
          </p:cNvPr>
          <p:cNvSpPr/>
          <p:nvPr/>
        </p:nvSpPr>
        <p:spPr>
          <a:xfrm>
            <a:off x="2986171" y="2093943"/>
            <a:ext cx="58821" cy="31906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984369-3CA0-6B1F-2B56-B7CAA51B721E}"/>
              </a:ext>
            </a:extLst>
          </p:cNvPr>
          <p:cNvSpPr/>
          <p:nvPr/>
        </p:nvSpPr>
        <p:spPr>
          <a:xfrm rot="5400000">
            <a:off x="3178120" y="2308036"/>
            <a:ext cx="58821" cy="31906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ABF962-0C1A-B21B-F66F-34568E787E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750" y="1600298"/>
            <a:ext cx="5870000" cy="399855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7B485EF-A4A2-86FD-EA24-8DA33F0687B5}"/>
              </a:ext>
            </a:extLst>
          </p:cNvPr>
          <p:cNvCxnSpPr/>
          <p:nvPr/>
        </p:nvCxnSpPr>
        <p:spPr>
          <a:xfrm>
            <a:off x="7067550" y="3162300"/>
            <a:ext cx="0" cy="21717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595389-C521-DD9A-49DE-846C0DE68AF3}"/>
              </a:ext>
            </a:extLst>
          </p:cNvPr>
          <p:cNvSpPr txBox="1"/>
          <p:nvPr/>
        </p:nvSpPr>
        <p:spPr>
          <a:xfrm>
            <a:off x="6757208" y="554661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2.03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2B0668-0FFF-F142-1B5B-742EB0146C1F}"/>
              </a:ext>
            </a:extLst>
          </p:cNvPr>
          <p:cNvCxnSpPr>
            <a:cxnSpLocks/>
          </p:cNvCxnSpPr>
          <p:nvPr/>
        </p:nvCxnSpPr>
        <p:spPr>
          <a:xfrm>
            <a:off x="8572500" y="2273300"/>
            <a:ext cx="0" cy="31178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A7E4510-D441-72A4-F1C1-98B5CD273915}"/>
              </a:ext>
            </a:extLst>
          </p:cNvPr>
          <p:cNvSpPr txBox="1"/>
          <p:nvPr/>
        </p:nvSpPr>
        <p:spPr>
          <a:xfrm>
            <a:off x="8275666" y="5598852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1.64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3A4CB8-FFDB-9331-F108-5FE16651869D}"/>
              </a:ext>
            </a:extLst>
          </p:cNvPr>
          <p:cNvSpPr txBox="1"/>
          <p:nvPr/>
        </p:nvSpPr>
        <p:spPr>
          <a:xfrm>
            <a:off x="10465605" y="5473253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2.88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CA4EA4A-43E8-C06A-6A9B-D133701D6BD1}"/>
              </a:ext>
            </a:extLst>
          </p:cNvPr>
          <p:cNvCxnSpPr>
            <a:cxnSpLocks/>
          </p:cNvCxnSpPr>
          <p:nvPr/>
        </p:nvCxnSpPr>
        <p:spPr>
          <a:xfrm>
            <a:off x="10674350" y="3384550"/>
            <a:ext cx="0" cy="2159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B41381-EE0F-E32A-BD87-E825B63C3F1F}"/>
              </a:ext>
            </a:extLst>
          </p:cNvPr>
          <p:cNvCxnSpPr>
            <a:cxnSpLocks/>
          </p:cNvCxnSpPr>
          <p:nvPr/>
        </p:nvCxnSpPr>
        <p:spPr>
          <a:xfrm>
            <a:off x="9144000" y="2425700"/>
            <a:ext cx="0" cy="14776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055482C-3638-BE7F-E8CB-718631FF8862}"/>
              </a:ext>
            </a:extLst>
          </p:cNvPr>
          <p:cNvSpPr txBox="1"/>
          <p:nvPr/>
        </p:nvSpPr>
        <p:spPr>
          <a:xfrm>
            <a:off x="9204386" y="224103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1.68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1168984-63E0-FF43-B771-AE1FC504D0C7}"/>
              </a:ext>
            </a:extLst>
          </p:cNvPr>
          <p:cNvCxnSpPr>
            <a:cxnSpLocks/>
          </p:cNvCxnSpPr>
          <p:nvPr/>
        </p:nvCxnSpPr>
        <p:spPr>
          <a:xfrm>
            <a:off x="10109200" y="2444750"/>
            <a:ext cx="0" cy="3117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82F7A6F-9C93-93F7-7B75-605B2DFC5AE2}"/>
              </a:ext>
            </a:extLst>
          </p:cNvPr>
          <p:cNvSpPr txBox="1"/>
          <p:nvPr/>
        </p:nvSpPr>
        <p:spPr>
          <a:xfrm>
            <a:off x="9772649" y="552132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2.33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A466D5-0516-EADC-D679-65E9081D18A7}"/>
              </a:ext>
            </a:extLst>
          </p:cNvPr>
          <p:cNvCxnSpPr>
            <a:cxnSpLocks/>
          </p:cNvCxnSpPr>
          <p:nvPr/>
        </p:nvCxnSpPr>
        <p:spPr>
          <a:xfrm>
            <a:off x="9144000" y="4003675"/>
            <a:ext cx="0" cy="150812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7FA98D-053C-C252-5367-D1946057826D}"/>
              </a:ext>
            </a:extLst>
          </p:cNvPr>
          <p:cNvSpPr txBox="1"/>
          <p:nvPr/>
        </p:nvSpPr>
        <p:spPr>
          <a:xfrm>
            <a:off x="8859055" y="554355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2.61</a:t>
            </a:r>
          </a:p>
        </p:txBody>
      </p:sp>
    </p:spTree>
    <p:extLst>
      <p:ext uri="{BB962C8B-B14F-4D97-AF65-F5344CB8AC3E}">
        <p14:creationId xmlns:p14="http://schemas.microsoft.com/office/powerpoint/2010/main" val="163188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CFB3F-94A4-E275-199E-CFA1C084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43290E-9F31-1949-38D4-DC609F291401}"/>
              </a:ext>
            </a:extLst>
          </p:cNvPr>
          <p:cNvSpPr txBox="1"/>
          <p:nvPr/>
        </p:nvSpPr>
        <p:spPr>
          <a:xfrm>
            <a:off x="702733" y="584200"/>
            <a:ext cx="10000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Problem with fitting. Figure 3(6) converges to different amplitude and J, which is not on smooth J 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0D1387-B25A-18E4-A8EC-3EA3F0423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" y="1237607"/>
            <a:ext cx="10617746" cy="478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102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9509CB99-12E2-E273-5286-1BBDA8A65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2" y="3494002"/>
            <a:ext cx="4228444" cy="3171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154EA4-0C83-E3FD-5027-16680B1B1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85" y="195542"/>
            <a:ext cx="4057225" cy="3047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E99142-8136-0859-F058-060B9AB7B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6722" y="68373"/>
            <a:ext cx="4057225" cy="3047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9EBF7E-12A4-0BDA-9378-5415F5B4A2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63" y="138707"/>
            <a:ext cx="4208542" cy="31614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6D1FA0-C8A1-911D-DB2D-5E77998256F5}"/>
              </a:ext>
            </a:extLst>
          </p:cNvPr>
          <p:cNvSpPr txBox="1"/>
          <p:nvPr/>
        </p:nvSpPr>
        <p:spPr>
          <a:xfrm>
            <a:off x="297800" y="3300124"/>
            <a:ext cx="1567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Fitting 1D cut: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C8E092-C62C-70AA-38DA-905E29ED7698}"/>
              </a:ext>
            </a:extLst>
          </p:cNvPr>
          <p:cNvSpPr txBox="1"/>
          <p:nvPr/>
        </p:nvSpPr>
        <p:spPr>
          <a:xfrm>
            <a:off x="135074" y="46923"/>
            <a:ext cx="1567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Fitting 2D cut: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F1659FB-AE62-FF61-E2DC-BFD6D14E7F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6615" y="3618294"/>
            <a:ext cx="3897001" cy="29227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FF9651-7B2D-13D2-7DAB-771A87865D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6889" y="3457313"/>
            <a:ext cx="4165169" cy="312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65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FC7E4-BB8F-A2C7-09EA-43932948F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ACBC39-04AC-D321-7DB1-41E902984B95}"/>
              </a:ext>
            </a:extLst>
          </p:cNvPr>
          <p:cNvSpPr txBox="1"/>
          <p:nvPr/>
        </p:nvSpPr>
        <p:spPr>
          <a:xfrm>
            <a:off x="504497" y="129555"/>
            <a:ext cx="1571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Symmetrised: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AB94095-A6C6-9137-5CB1-7CC773E32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9" y="482951"/>
            <a:ext cx="3846261" cy="28846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A97DC90-3857-DD81-9D3E-8275E85D4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472" y="300072"/>
            <a:ext cx="4191000" cy="31432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76060C3-4F78-D7D6-839A-B377C7458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9" y="227131"/>
            <a:ext cx="4060887" cy="32161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651339-0B18-B11E-7E38-9AA14D3FED90}"/>
              </a:ext>
            </a:extLst>
          </p:cNvPr>
          <p:cNvSpPr txBox="1"/>
          <p:nvPr/>
        </p:nvSpPr>
        <p:spPr>
          <a:xfrm>
            <a:off x="504497" y="3303838"/>
            <a:ext cx="107769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For 200meV dataset is possible to fit double-exponential background separately and then fit data using this </a:t>
            </a:r>
          </a:p>
          <a:p>
            <a:r>
              <a:rPr lang="en-GB" dirty="0"/>
              <a:t>background. The result is Ei200meV extern bg. </a:t>
            </a:r>
          </a:p>
          <a:p>
            <a:r>
              <a:rPr lang="en-GB" dirty="0"/>
              <a:t>For 400meV ds, background looks too high even if taken from central part of SW? Strange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5DCD0D-A0F9-A0C2-69AC-0C255EB9B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69" y="4446839"/>
            <a:ext cx="3322511" cy="2212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312FD1-4351-53EB-3CAE-A70EAF312D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5770" y="4446839"/>
            <a:ext cx="3061525" cy="2212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1DC9F4-380F-F7CA-CD77-20627017C7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2778" y="4520748"/>
            <a:ext cx="4060887" cy="221267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FA6761-A200-3DBE-FFE9-B9E28082B062}"/>
              </a:ext>
            </a:extLst>
          </p:cNvPr>
          <p:cNvSpPr txBox="1"/>
          <p:nvPr/>
        </p:nvSpPr>
        <p:spPr>
          <a:xfrm>
            <a:off x="599268" y="4336082"/>
            <a:ext cx="8431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Ei400 2D cuts with 2-exp fit background, 1 st amplitude fit vs 1D cut with fit base </a:t>
            </a:r>
            <a:r>
              <a:rPr lang="en-GB" dirty="0" err="1"/>
              <a:t>bg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1788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43CDCD-DFF5-D6D9-D349-7F8170F90538}"/>
              </a:ext>
            </a:extLst>
          </p:cNvPr>
          <p:cNvSpPr txBox="1"/>
          <p:nvPr/>
        </p:nvSpPr>
        <p:spPr>
          <a:xfrm>
            <a:off x="485578" y="422516"/>
            <a:ext cx="1141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Fitting around &lt;2,0,0&gt; for 3 Ei. DSHO. High Ei data – first fit, Ei200 and 400 subsequently refitted to peaks only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407B6E-BEC6-7DC8-C626-3FA909C2B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4" y="1147384"/>
            <a:ext cx="4002318" cy="27365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7E0F55-27AE-C04F-EF92-419CA661D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946" y="1162374"/>
            <a:ext cx="4634391" cy="28897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CA03DF-B30B-F8E9-A572-4383259C2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5186" y="1330610"/>
            <a:ext cx="4126077" cy="2530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8F1ACD-3AFA-FF86-BA52-3D7194763E41}"/>
              </a:ext>
            </a:extLst>
          </p:cNvPr>
          <p:cNvSpPr txBox="1"/>
          <p:nvPr/>
        </p:nvSpPr>
        <p:spPr>
          <a:xfrm>
            <a:off x="290024" y="3851075"/>
            <a:ext cx="11414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Fitting around &lt;1,1,0&gt;, choosing minimal Q variation(~same magnetic FF); fit all (markers) and fit peak(connected)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58C3CC0-C03F-FBEC-A8B8-53787FE8F9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291884"/>
            <a:ext cx="4184551" cy="244898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57BD666-C555-410D-359D-19680560D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740" y="4254461"/>
            <a:ext cx="4359734" cy="255151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C214B35-100E-5BD5-918D-4999E1FDB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745" y="4341817"/>
            <a:ext cx="4210469" cy="246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2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781B78-0E76-3386-7AAE-E090150EEAA8}"/>
              </a:ext>
            </a:extLst>
          </p:cNvPr>
          <p:cNvSpPr txBox="1"/>
          <p:nvPr/>
        </p:nvSpPr>
        <p:spPr>
          <a:xfrm>
            <a:off x="339420" y="44742"/>
            <a:ext cx="11440776" cy="92333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Peak fitting. Comparison between fitting background with fixed slope (</a:t>
            </a:r>
            <a:r>
              <a:rPr lang="en-GB" dirty="0" err="1"/>
              <a:t>bg</a:t>
            </a:r>
            <a:r>
              <a:rPr lang="en-GB" dirty="0"/>
              <a:t> intensity changes –lower fig)</a:t>
            </a:r>
          </a:p>
          <a:p>
            <a:r>
              <a:rPr lang="en-GB" dirty="0"/>
              <a:t> and variable slope  (intensity and slope change – upper figs).</a:t>
            </a:r>
          </a:p>
          <a:p>
            <a:r>
              <a:rPr lang="en-GB" dirty="0"/>
              <a:t>3 incident energies. Dots – fitting whole 2D cut, lines – fitting peak cut up to 0.8 its intensity.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448A2-9F87-1BD0-5882-A0C414A89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96" y="1063132"/>
            <a:ext cx="10939120" cy="540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932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FB60AE-2498-60AA-98E7-894F9E59F028}"/>
              </a:ext>
            </a:extLst>
          </p:cNvPr>
          <p:cNvSpPr txBox="1"/>
          <p:nvPr/>
        </p:nvSpPr>
        <p:spPr>
          <a:xfrm>
            <a:off x="530444" y="274945"/>
            <a:ext cx="10541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 peaks, for Ei400, &lt;110&gt; and &lt;200&gt; cuts combined. Cut &lt;110&gt; used up to 190meV; Cut 200 from 200. </a:t>
            </a:r>
          </a:p>
          <a:p>
            <a:r>
              <a:rPr lang="en-GB" dirty="0"/>
              <a:t>Red marks – fit 400meV; &lt;200&gt;  using whole dataset, fixed slope background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313511-2D76-D926-0D5B-A8A791888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9366"/>
            <a:ext cx="4190001" cy="25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A9975C-788A-BDF2-CAB4-B2946A966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369" y="1104208"/>
            <a:ext cx="4052632" cy="25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780944-136B-A94D-CC44-B22C0D211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1855" y="1104208"/>
            <a:ext cx="4070769" cy="25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DC7BEA-11B1-1EBF-DF7D-E09482ABFA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71878"/>
            <a:ext cx="3961151" cy="23861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38D9D5-1D8B-ABE7-98EA-C55D080D11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0850" y="4471878"/>
            <a:ext cx="3961151" cy="238612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3AD5C12-E4BE-CFCF-39E1-D6FE8B2436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1700" y="4355666"/>
            <a:ext cx="4052632" cy="244122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FB0B7C1-5964-BAAD-07DC-DD4F362225F6}"/>
              </a:ext>
            </a:extLst>
          </p:cNvPr>
          <p:cNvSpPr txBox="1"/>
          <p:nvPr/>
        </p:nvSpPr>
        <p:spPr>
          <a:xfrm>
            <a:off x="374007" y="3977658"/>
            <a:ext cx="8716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 peaks for Ei400, &lt;110&gt; and refit upper part of &lt;200&gt; cuts using fixed 2exp </a:t>
            </a:r>
            <a:r>
              <a:rPr lang="en-GB" dirty="0" err="1"/>
              <a:t>bg</a:t>
            </a:r>
            <a:r>
              <a:rPr lang="en-GB" dirty="0"/>
              <a:t> + delta.</a:t>
            </a:r>
          </a:p>
        </p:txBody>
      </p:sp>
    </p:spTree>
    <p:extLst>
      <p:ext uri="{BB962C8B-B14F-4D97-AF65-F5344CB8AC3E}">
        <p14:creationId xmlns:p14="http://schemas.microsoft.com/office/powerpoint/2010/main" val="3503802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F0140A7-4EA3-AAC2-25BB-136C918FBD41}"/>
              </a:ext>
            </a:extLst>
          </p:cNvPr>
          <p:cNvSpPr txBox="1"/>
          <p:nvPr/>
        </p:nvSpPr>
        <p:spPr>
          <a:xfrm>
            <a:off x="248356" y="333022"/>
            <a:ext cx="64252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Peak fitting around &lt;110&gt; vs &lt;200&gt; for Ei=200meV + Ei400 </a:t>
            </a:r>
            <a:r>
              <a:rPr lang="en-GB" dirty="0" err="1"/>
              <a:t>meV</a:t>
            </a:r>
            <a:r>
              <a:rPr lang="en-GB" dirty="0"/>
              <a:t>;</a:t>
            </a:r>
          </a:p>
          <a:p>
            <a:r>
              <a:rPr lang="en-GB" dirty="0"/>
              <a:t>  DSHO fit in whole cut area, appropriate BZ; GH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EE55FB-4D4C-CD80-E47A-3767BB227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4" y="1134452"/>
            <a:ext cx="6519333" cy="21082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A79CE9-76F3-701D-77C0-01ADB92CB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6583" y="224426"/>
            <a:ext cx="2274542" cy="162695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99711C-2BCE-ADFA-FD0A-FBA746B834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012" y="1867668"/>
            <a:ext cx="2377684" cy="15465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933F45D-423F-AC89-6939-6A9A5CE5C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125" y="312582"/>
            <a:ext cx="2077792" cy="14506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3BABE9-E6BB-ADC8-CFEF-924B8782E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1125" y="1815705"/>
            <a:ext cx="2195675" cy="16505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ECD5094-BEC2-9542-C610-CA9B5D78D9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560195"/>
            <a:ext cx="12192000" cy="277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35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C7FB91-AE29-C390-5175-719E0305E839}"/>
              </a:ext>
            </a:extLst>
          </p:cNvPr>
          <p:cNvSpPr txBox="1"/>
          <p:nvPr/>
        </p:nvSpPr>
        <p:spPr>
          <a:xfrm>
            <a:off x="254001" y="196056"/>
            <a:ext cx="9018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Dispersion Peak fitting with resolution around &lt;110&gt; vs &lt;200&gt; for Ei=200meV + Ei400 </a:t>
            </a:r>
            <a:r>
              <a:rPr lang="en-GB" dirty="0" err="1"/>
              <a:t>meV</a:t>
            </a:r>
            <a:r>
              <a:rPr lang="en-GB" dirty="0"/>
              <a:t>;</a:t>
            </a:r>
          </a:p>
          <a:p>
            <a:r>
              <a:rPr lang="en-GB" dirty="0"/>
              <a:t>DSHO fit in whole cut area, appropriate BZ; GP (111 direction); min FF change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F5052-B620-F4A8-8CC7-3F5BA7B0F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11" y="3689995"/>
            <a:ext cx="10899422" cy="22232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EAABC04-A908-6ED0-C03A-0029D19AF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417" y="882311"/>
            <a:ext cx="3382808" cy="21833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3746F2-5F3E-5ED4-B160-D835C049E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5901" y="1080201"/>
            <a:ext cx="3070908" cy="18535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501B0E2-DB66-04CC-9B39-51ECE65CC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619" y="1080201"/>
            <a:ext cx="2916766" cy="18535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5958A9-7826-F6C3-20DE-9ED19AA684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3224" y="842387"/>
            <a:ext cx="2916767" cy="222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949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27A5-4A44-D716-2AF0-BA229CA3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F6215-6568-003F-BA58-CF79F0137896}"/>
              </a:ext>
            </a:extLst>
          </p:cNvPr>
          <p:cNvSpPr txBox="1"/>
          <p:nvPr/>
        </p:nvSpPr>
        <p:spPr>
          <a:xfrm>
            <a:off x="254001" y="196056"/>
            <a:ext cx="7939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Dispersion Peak fitting with resolution around &lt;110&gt; vs &lt;200&gt; for Ei=800meV;</a:t>
            </a:r>
          </a:p>
          <a:p>
            <a:r>
              <a:rPr lang="en-GB" dirty="0"/>
              <a:t>DSHO fit in whole cut area, appropriate BZ; GP (111 direction)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54034-D25C-0AE1-3729-5FF3CB433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7" y="3517386"/>
            <a:ext cx="11870421" cy="2759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60536A-761A-C3DB-D4FC-2F823FCBA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51" y="932722"/>
            <a:ext cx="12192000" cy="24078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D4074B-0692-D8D7-1D3D-730D19AD7723}"/>
              </a:ext>
            </a:extLst>
          </p:cNvPr>
          <p:cNvSpPr txBox="1"/>
          <p:nvPr/>
        </p:nvSpPr>
        <p:spPr>
          <a:xfrm>
            <a:off x="8900609" y="3344592"/>
            <a:ext cx="294195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Affected by q-min reduction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3A3CFB8-CBFD-31AC-3C95-F66493568B66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912690" y="3698074"/>
            <a:ext cx="574755" cy="622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3A64E7-DF57-55B5-9A04-FACDF13F8351}"/>
              </a:ext>
            </a:extLst>
          </p:cNvPr>
          <p:cNvSpPr txBox="1"/>
          <p:nvPr/>
        </p:nvSpPr>
        <p:spPr>
          <a:xfrm>
            <a:off x="1016465" y="3328742"/>
            <a:ext cx="294195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Affected by q-min reduction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C0F718-683E-BE98-EF00-FA6BD50FB264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0371589" y="3713924"/>
            <a:ext cx="388692" cy="8287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968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7F2321-24A2-AFCB-9850-1EE8601E4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12" y="922789"/>
            <a:ext cx="7712638" cy="464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854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6A950-CD4F-382B-1E4C-18B7FC8E9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04" y="1062109"/>
            <a:ext cx="10372299" cy="5277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BF2DA9-CC66-D8B9-71CC-D3A15BFA9257}"/>
              </a:ext>
            </a:extLst>
          </p:cNvPr>
          <p:cNvSpPr txBox="1"/>
          <p:nvPr/>
        </p:nvSpPr>
        <p:spPr>
          <a:xfrm>
            <a:off x="605367" y="347133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GP</a:t>
            </a:r>
          </a:p>
        </p:txBody>
      </p:sp>
    </p:spTree>
    <p:extLst>
      <p:ext uri="{BB962C8B-B14F-4D97-AF65-F5344CB8AC3E}">
        <p14:creationId xmlns:p14="http://schemas.microsoft.com/office/powerpoint/2010/main" val="2661791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E94212-1593-C09F-1180-873B8A52A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8" y="457397"/>
            <a:ext cx="11543731" cy="649036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6AD88F-8987-4353-801E-2250D120196F}"/>
              </a:ext>
            </a:extLst>
          </p:cNvPr>
          <p:cNvSpPr txBox="1"/>
          <p:nvPr/>
        </p:nvSpPr>
        <p:spPr>
          <a:xfrm>
            <a:off x="304761" y="126223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GP</a:t>
            </a:r>
          </a:p>
        </p:txBody>
      </p:sp>
    </p:spTree>
    <p:extLst>
      <p:ext uri="{BB962C8B-B14F-4D97-AF65-F5344CB8AC3E}">
        <p14:creationId xmlns:p14="http://schemas.microsoft.com/office/powerpoint/2010/main" val="1068310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1DC6D-72ED-F2F3-19B6-49A5EAF08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5" y="799796"/>
            <a:ext cx="12054269" cy="55840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CECBEB-1768-078C-D956-73C74BFC4E08}"/>
              </a:ext>
            </a:extLst>
          </p:cNvPr>
          <p:cNvSpPr txBox="1"/>
          <p:nvPr/>
        </p:nvSpPr>
        <p:spPr>
          <a:xfrm>
            <a:off x="308956" y="24366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NG</a:t>
            </a:r>
          </a:p>
        </p:txBody>
      </p:sp>
    </p:spTree>
    <p:extLst>
      <p:ext uri="{BB962C8B-B14F-4D97-AF65-F5344CB8AC3E}">
        <p14:creationId xmlns:p14="http://schemas.microsoft.com/office/powerpoint/2010/main" val="521886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FF7240-000C-6682-EF35-974A6C3C4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288" y="667932"/>
            <a:ext cx="9507424" cy="58293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750E0B-85BA-ADE0-B49A-AFAB221BC37D}"/>
              </a:ext>
            </a:extLst>
          </p:cNvPr>
          <p:cNvSpPr txBox="1"/>
          <p:nvPr/>
        </p:nvSpPr>
        <p:spPr>
          <a:xfrm>
            <a:off x="308956" y="243669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NG</a:t>
            </a:r>
          </a:p>
        </p:txBody>
      </p:sp>
    </p:spTree>
    <p:extLst>
      <p:ext uri="{BB962C8B-B14F-4D97-AF65-F5344CB8AC3E}">
        <p14:creationId xmlns:p14="http://schemas.microsoft.com/office/powerpoint/2010/main" val="3207413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C1F9EC-04FA-9D2E-8C38-84E52A3A6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610" y="433040"/>
            <a:ext cx="5015169" cy="5829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C7330-442F-45EB-B136-994B91283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118" y="537094"/>
            <a:ext cx="5605799" cy="57252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2961F4-A8E5-B534-101B-1E317BD1F458}"/>
              </a:ext>
            </a:extLst>
          </p:cNvPr>
          <p:cNvSpPr txBox="1"/>
          <p:nvPr/>
        </p:nvSpPr>
        <p:spPr>
          <a:xfrm>
            <a:off x="6849610" y="134612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ED01E4-DF78-D1B0-83CA-91F405495C43}"/>
              </a:ext>
            </a:extLst>
          </p:cNvPr>
          <p:cNvSpPr txBox="1"/>
          <p:nvPr/>
        </p:nvSpPr>
        <p:spPr>
          <a:xfrm>
            <a:off x="1269494" y="167762"/>
            <a:ext cx="48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GP</a:t>
            </a:r>
          </a:p>
        </p:txBody>
      </p:sp>
    </p:spTree>
    <p:extLst>
      <p:ext uri="{BB962C8B-B14F-4D97-AF65-F5344CB8AC3E}">
        <p14:creationId xmlns:p14="http://schemas.microsoft.com/office/powerpoint/2010/main" val="3252244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7D80B-9047-1D18-191C-5BD2332C4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907" y="968928"/>
            <a:ext cx="9014461" cy="551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888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E43B11-3C5A-B84F-30A2-3B2F509A8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9" y="1202840"/>
            <a:ext cx="10922633" cy="47852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733D21-F37C-A7DE-4777-C08F996D7642}"/>
              </a:ext>
            </a:extLst>
          </p:cNvPr>
          <p:cNvSpPr txBox="1"/>
          <p:nvPr/>
        </p:nvSpPr>
        <p:spPr>
          <a:xfrm>
            <a:off x="8851899" y="4330700"/>
            <a:ext cx="4006851" cy="39188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l">
              <a:lnSpc>
                <a:spcPts val="1286"/>
              </a:lnSpc>
              <a:buNone/>
            </a:pPr>
            <a:r>
              <a:rPr lang="en-GB" sz="1000" b="0" i="0" dirty="0">
                <a:effectLst/>
                <a:latin typeface="Menlo"/>
              </a:rPr>
              <a:t>--------------------------------------------------------------------------------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Fit converged</a:t>
            </a:r>
            <a:r>
              <a:rPr lang="en-GB" sz="1000" dirty="0">
                <a:latin typeface="Menlo"/>
              </a:rPr>
              <a:t>; </a:t>
            </a:r>
            <a:r>
              <a:rPr lang="en-GB" sz="1000" b="0" i="0" dirty="0">
                <a:effectLst/>
                <a:latin typeface="Menlo"/>
              </a:rPr>
              <a:t>Parameter values (free parameters with error estimates):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--------------------------------------------------------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Foreground parameter values: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----------------------------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1 	1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2 	8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3 	79.37	 +/-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4 	1.944	 +/-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5 	0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6 	36.61 	+/-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7 	0 	+/-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8 	0 	+/-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9 	0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10 	0</a:t>
            </a:r>
            <a:br>
              <a:rPr lang="en-GB" sz="1000" b="0" i="0" dirty="0">
                <a:effectLst/>
                <a:latin typeface="Menlo"/>
              </a:rPr>
            </a:b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Covariance matrix for free parameters: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>
                <a:effectLst/>
                <a:latin typeface="Menlo"/>
              </a:rPr>
              <a:t>--------------------------------------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br>
              <a:rPr lang="en-GB" sz="1000" b="0" i="0" dirty="0">
                <a:effectLst/>
                <a:latin typeface="Menlo"/>
              </a:rPr>
            </a:b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r>
              <a:rPr lang="en-GB" sz="1000" b="0" i="0" dirty="0">
                <a:effectLst/>
                <a:latin typeface="Menlo"/>
              </a:rPr>
              <a:t> </a:t>
            </a:r>
            <a:r>
              <a:rPr lang="en-GB" sz="1000" b="0" i="0" dirty="0" err="1">
                <a:effectLst/>
                <a:latin typeface="Menlo"/>
              </a:rPr>
              <a:t>NaN</a:t>
            </a:r>
            <a:endParaRPr lang="en-GB" sz="1000" b="0" i="0" dirty="0">
              <a:effectLst/>
              <a:latin typeface="Menl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3899C-5650-4862-5911-AD09E1DF4D17}"/>
              </a:ext>
            </a:extLst>
          </p:cNvPr>
          <p:cNvSpPr txBox="1"/>
          <p:nvPr/>
        </p:nvSpPr>
        <p:spPr>
          <a:xfrm>
            <a:off x="603250" y="304800"/>
            <a:ext cx="254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Fitting with 3J, single </a:t>
            </a:r>
            <a:r>
              <a:rPr lang="en-GB" dirty="0" err="1">
                <a:latin typeface="Symbol" panose="05050102010706020507" pitchFamily="18" charset="2"/>
              </a:rPr>
              <a:t>g</a:t>
            </a:r>
            <a:r>
              <a:rPr lang="en-GB" dirty="0" err="1"/>
              <a:t>,S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0764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9A5C9-52D8-BA21-A56C-11587E7CE8E0}"/>
              </a:ext>
            </a:extLst>
          </p:cNvPr>
          <p:cNvSpPr txBox="1"/>
          <p:nvPr/>
        </p:nvSpPr>
        <p:spPr>
          <a:xfrm>
            <a:off x="315531" y="238259"/>
            <a:ext cx="5664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 quality for the data above (Ei800, fitting to whole cut)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0D29AA-40DA-92AB-35BF-4AE7BB432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4" y="761529"/>
            <a:ext cx="4780156" cy="332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6404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9C40E5E-1C61-60C6-068C-DEBF78591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363" y="3642356"/>
            <a:ext cx="4318907" cy="2880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3DB6D3-4766-ECFA-86AC-9211B803191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23363" y="549000"/>
            <a:ext cx="4320000" cy="288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AA43F3-B7EC-07DC-0A8B-49A60A26B30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158295" y="493821"/>
            <a:ext cx="4320000" cy="288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913272-B333-5FB2-9CD5-6DB5D43802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0299" y="3268133"/>
            <a:ext cx="4257996" cy="341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448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E34BEA-EFAE-DC9B-28DD-528593CA5641}"/>
              </a:ext>
            </a:extLst>
          </p:cNvPr>
          <p:cNvSpPr txBox="1"/>
          <p:nvPr/>
        </p:nvSpPr>
        <p:spPr>
          <a:xfrm>
            <a:off x="346129" y="211810"/>
            <a:ext cx="281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Fitting background quality: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8D1D2B-F477-CD83-6176-FC776D25B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29" y="1024146"/>
            <a:ext cx="3344499" cy="24048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AE99ED-5542-9F87-EEA7-A35140ABF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6693" y="892268"/>
            <a:ext cx="3508433" cy="2631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46C5FD-7358-025D-1A2A-5D1E1C22009F}"/>
              </a:ext>
            </a:extLst>
          </p:cNvPr>
          <p:cNvSpPr txBox="1"/>
          <p:nvPr/>
        </p:nvSpPr>
        <p:spPr>
          <a:xfrm>
            <a:off x="3782248" y="328340"/>
            <a:ext cx="3621889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1d cut from masked (blue line) and</a:t>
            </a:r>
          </a:p>
          <a:p>
            <a:r>
              <a:rPr lang="en-GB" dirty="0"/>
              <a:t> unmasked (red line) datasets from</a:t>
            </a:r>
          </a:p>
          <a:p>
            <a:r>
              <a:rPr lang="en-GB" dirty="0"/>
              <a:t> the left.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8611B-C34D-26E5-9976-CD505083C7D9}"/>
              </a:ext>
            </a:extLst>
          </p:cNvPr>
          <p:cNvSpPr txBox="1"/>
          <p:nvPr/>
        </p:nvSpPr>
        <p:spPr>
          <a:xfrm>
            <a:off x="7745150" y="581142"/>
            <a:ext cx="2359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Fitted </a:t>
            </a:r>
            <a:r>
              <a:rPr lang="en-GB" dirty="0" err="1"/>
              <a:t>bg</a:t>
            </a:r>
            <a:r>
              <a:rPr lang="en-GB" dirty="0"/>
              <a:t> (amplitude).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36E026-592B-2E05-5F6D-C7097A273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915" y="950474"/>
            <a:ext cx="3354382" cy="240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067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82A00E-0F6F-6ADA-1686-416CC14A8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2369489"/>
            <a:ext cx="4825201" cy="43930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EC9B5-62CE-7895-CF35-C0BEE2F9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45" y="2369489"/>
            <a:ext cx="4908615" cy="4469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D71B7C-47E1-11E4-3255-A45FCE29B9BA}"/>
              </a:ext>
            </a:extLst>
          </p:cNvPr>
          <p:cNvSpPr txBox="1"/>
          <p:nvPr/>
        </p:nvSpPr>
        <p:spPr>
          <a:xfrm>
            <a:off x="1176793" y="1971923"/>
            <a:ext cx="1149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 with J0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E1C61-9967-6A8B-9F0D-D5E17C1A2128}"/>
              </a:ext>
            </a:extLst>
          </p:cNvPr>
          <p:cNvSpPr txBox="1"/>
          <p:nvPr/>
        </p:nvSpPr>
        <p:spPr>
          <a:xfrm>
            <a:off x="8451375" y="1898854"/>
            <a:ext cx="2548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 with J0+J2+J4 (J6==0)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C98D9-FC16-C855-C756-6C66F71CC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1138" y="501981"/>
            <a:ext cx="3677655" cy="238539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7BCF82-243A-6217-AB20-6A3B6CB22290}"/>
              </a:ext>
            </a:extLst>
          </p:cNvPr>
          <p:cNvSpPr txBox="1"/>
          <p:nvPr/>
        </p:nvSpPr>
        <p:spPr>
          <a:xfrm>
            <a:off x="513567" y="338203"/>
            <a:ext cx="2450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Fitting </a:t>
            </a:r>
            <a:r>
              <a:rPr lang="en-GB"/>
              <a:t>with form-factor</a:t>
            </a:r>
          </a:p>
        </p:txBody>
      </p:sp>
    </p:spTree>
    <p:extLst>
      <p:ext uri="{BB962C8B-B14F-4D97-AF65-F5344CB8AC3E}">
        <p14:creationId xmlns:p14="http://schemas.microsoft.com/office/powerpoint/2010/main" val="2628199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FF2728-2CD0-D50F-CEFC-781FA94F9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174625"/>
            <a:ext cx="4170517" cy="2962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91BA96-1C10-E3D9-7791-38EBE4AAC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9417" y="127001"/>
            <a:ext cx="3764493" cy="3226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FC53DA-23CE-E3FF-0CD2-350E5B3DD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" y="3429000"/>
            <a:ext cx="4032250" cy="31034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D75EA3-1E28-48C5-288F-16BD240A9C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802" y="3841750"/>
            <a:ext cx="4355722" cy="241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802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7EB341-FF08-3151-53E4-362A41B1426B}"/>
              </a:ext>
            </a:extLst>
          </p:cNvPr>
          <p:cNvSpPr txBox="1"/>
          <p:nvPr/>
        </p:nvSpPr>
        <p:spPr>
          <a:xfrm>
            <a:off x="645066" y="2031101"/>
            <a:ext cx="4282984" cy="3511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Comparison between form-factors used in 2017 and in 2026. The result is in 2017 we were using 1moment FF and 2026 – 3 moments.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1moment FF are identical, additional moments provide longer tail.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4A7CD4-5768-9F9F-9D5F-27294DD2E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649302"/>
            <a:ext cx="5628018" cy="332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287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185028</TotalTime>
  <Words>802</Words>
  <Application>Microsoft Office PowerPoint</Application>
  <PresentationFormat>Widescreen</PresentationFormat>
  <Paragraphs>75</Paragraphs>
  <Slides>35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Aptos</vt:lpstr>
      <vt:lpstr>Aptos Display</vt:lpstr>
      <vt:lpstr>Arial</vt:lpstr>
      <vt:lpstr>Cambria Math</vt:lpstr>
      <vt:lpstr>Menlo</vt:lpstr>
      <vt:lpstr>Symbol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Buts, Alex (STFC,RAL,ISIS)</dc:creator>
  <cp:lastModifiedBy>Buts, Alex (STFC,RAL,ISIS)</cp:lastModifiedBy>
  <cp:revision>78</cp:revision>
  <dcterms:created xsi:type="dcterms:W3CDTF">2025-07-08T11:01:33Z</dcterms:created>
  <dcterms:modified xsi:type="dcterms:W3CDTF">2026-09-28T14:37:19Z</dcterms:modified>
</cp:coreProperties>
</file>