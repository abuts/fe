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72" r:id="rId10"/>
    <p:sldId id="277" r:id="rId11"/>
    <p:sldId id="268" r:id="rId12"/>
    <p:sldId id="269" r:id="rId13"/>
    <p:sldId id="271" r:id="rId14"/>
    <p:sldId id="273" r:id="rId15"/>
    <p:sldId id="276" r:id="rId16"/>
    <p:sldId id="274" r:id="rId17"/>
    <p:sldId id="264" r:id="rId18"/>
    <p:sldId id="270" r:id="rId19"/>
    <p:sldId id="263" r:id="rId20"/>
    <p:sldId id="265" r:id="rId21"/>
    <p:sldId id="27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733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52" y="9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F5196-8AA5-4443-BAE3-5928F0EB750E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FFDB57-1E66-47D6-A1CA-F724767A65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85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FFDB57-1E66-47D6-A1CA-F724767A65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3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F629B-D231-A0D5-2F2B-565EFDA18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284CC2-7769-D92D-2ED9-3E507E8DC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4A701-72EA-CE8B-045F-777BE3A67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01E4A-980B-3D38-96A5-E4C7FAEE1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52BD8-59C9-FF12-ACF2-3F16C526F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4354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FA9D6-2CBE-2084-746C-027689E16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B45BD-A4BB-E591-D03E-122C83D48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7219F-B391-612F-EBB1-6E3C1CA03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68D5E-3790-64E0-256A-D42DFC37E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4AA80-BB23-3C87-A9F7-9827D02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581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4066D-85E2-0FF4-9DED-C96D05478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C97DA-EAAC-1F0F-0446-A4F480270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95AD0-4BAE-902A-6A3A-E1BAE0488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06B66-CEAA-99AF-BD2A-D117FC344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8AD54-92ED-C6FA-B381-7EDC8207C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383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92A26-B9D0-D7BD-C7B7-D5D9A67D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3C2B1-D686-1386-F147-3341F8B024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1E726E-9156-FDA5-72F9-558145349F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64F436-4BC2-2830-95C0-279028E72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4E7EB9-C4A8-7D5C-AE8E-F882471C4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D4D3E-0C2A-2577-A99D-B4447FAD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7395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7C29-8DE5-ADD4-1833-39BE0DE72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3E351A-ED67-BD52-94F7-81F348D6E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E90209-DF08-325E-ED1C-9A9A8C32B7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B9826D-98E0-AC39-DCC7-3473C1F168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677727-83CA-B6B1-86F8-4B81F752EE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19017-8789-1D7C-7577-6B25379B4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F4664D-593E-A598-18B2-C68A1D82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25DDD4-890B-2DF8-C03A-15FF7F77D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89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880D-71FE-117D-1B54-369D06CDC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C11024-C9EE-07CB-2FAC-7CEBD575B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34AC2-33FE-72E8-D97E-0F6631C9E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447BC3-FD1B-FFA9-7D9D-2085D0365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730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8485A-05BE-C8CA-E919-58CAF9A3D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18505F-E044-410D-C96B-648AD3852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64DA5-EFA5-97B7-F52A-E9D5A890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878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B78F8-95F9-1298-6148-3113D137E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AE2AE-5662-9A83-B908-79D181CB1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9019E5-0E38-29E2-4314-6D6047E1CE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C3FAEC-6440-DFF2-02F3-2508DD598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61B5C8-2B00-8499-BD8A-532E52A9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1FAED-87CD-FC7A-A62A-5F2B4CD0D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536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85705-3181-088E-9AEA-8F2D4C7E6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6A9254-DAD4-11BA-DEC3-FAB4B39829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D2C7A-FD98-8D7B-3194-839A599D4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212CA-C0BD-5860-9FE1-F220B70F5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DE22B9-184C-C074-234B-EB729D4E9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1EB30-AB3A-717C-900A-2596A8890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69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8B65-5BD6-5088-9751-793350A9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1190EC-0320-08DC-BDA3-6C89A3575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8F6B3-D12B-0A94-728F-226F5025B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40779-2556-A502-8F6A-04673B07E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057D5-D541-FF79-719E-B9F95BE5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141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48605F-8E15-9151-46E5-1DF0829A25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B7351-F93D-68A5-B403-D95024C87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56311-57BF-F0E9-DABD-B69F8CCB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6BE71-41A8-EBD4-3C29-FADA0C0E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FB9A2-273A-109C-52C0-0DC51505A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3356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5538E8-F7A2-4A24-D9C9-2280F1984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EEBE8-922C-6E18-29E9-2FC7CE8AD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31DE3-86D7-A236-BBAD-84704FB81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FCE69-7D14-7827-90D1-91A3FE3DE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1EF47-A272-A80D-8F09-811DC5C64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836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1.bin"/><Relationship Id="rId10" Type="http://schemas.openxmlformats.org/officeDocument/2006/relationships/image" Target="../media/image13.png"/><Relationship Id="rId4" Type="http://schemas.openxmlformats.org/officeDocument/2006/relationships/image" Target="../media/image9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9.emf"/><Relationship Id="rId7" Type="http://schemas.openxmlformats.org/officeDocument/2006/relationships/image" Target="../media/image2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7" Type="http://schemas.openxmlformats.org/officeDocument/2006/relationships/image" Target="../media/image38.emf"/><Relationship Id="rId2" Type="http://schemas.openxmlformats.org/officeDocument/2006/relationships/image" Target="../media/image33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emf"/><Relationship Id="rId5" Type="http://schemas.openxmlformats.org/officeDocument/2006/relationships/image" Target="../media/image36.emf"/><Relationship Id="rId4" Type="http://schemas.openxmlformats.org/officeDocument/2006/relationships/image" Target="../media/image35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emf"/><Relationship Id="rId7" Type="http://schemas.openxmlformats.org/officeDocument/2006/relationships/image" Target="../media/image44.emf"/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emf"/><Relationship Id="rId5" Type="http://schemas.openxmlformats.org/officeDocument/2006/relationships/image" Target="../media/image42.emf"/><Relationship Id="rId4" Type="http://schemas.openxmlformats.org/officeDocument/2006/relationships/image" Target="../media/image41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emf"/><Relationship Id="rId7" Type="http://schemas.openxmlformats.org/officeDocument/2006/relationships/image" Target="../media/image50.emf"/><Relationship Id="rId2" Type="http://schemas.openxmlformats.org/officeDocument/2006/relationships/image" Target="../media/image4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emf"/><Relationship Id="rId5" Type="http://schemas.openxmlformats.org/officeDocument/2006/relationships/image" Target="../media/image48.emf"/><Relationship Id="rId4" Type="http://schemas.openxmlformats.org/officeDocument/2006/relationships/image" Target="../media/image47.emf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emf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emf"/><Relationship Id="rId2" Type="http://schemas.openxmlformats.org/officeDocument/2006/relationships/image" Target="../media/image53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6.emf"/><Relationship Id="rId4" Type="http://schemas.openxmlformats.org/officeDocument/2006/relationships/image" Target="../media/image55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emf"/><Relationship Id="rId2" Type="http://schemas.openxmlformats.org/officeDocument/2006/relationships/image" Target="../media/image57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9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emf"/><Relationship Id="rId2" Type="http://schemas.openxmlformats.org/officeDocument/2006/relationships/image" Target="../media/image60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emf"/><Relationship Id="rId2" Type="http://schemas.openxmlformats.org/officeDocument/2006/relationships/image" Target="../media/image63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6.emf"/><Relationship Id="rId4" Type="http://schemas.openxmlformats.org/officeDocument/2006/relationships/image" Target="../media/image65.em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C36CA15E-01B3-BE4D-EF9B-474AC260A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310257"/>
            <a:ext cx="3725333" cy="279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5DFB3B-8727-6B8D-C88A-80EB39729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567" y="285750"/>
            <a:ext cx="3970867" cy="2978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A52BA3-232E-63DD-6512-9CB70BCCC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635" y="3486151"/>
            <a:ext cx="3852333" cy="2889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B54FC6-E05E-B369-936F-B153AED224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81" r="18929"/>
          <a:stretch/>
        </p:blipFill>
        <p:spPr>
          <a:xfrm>
            <a:off x="8365068" y="3218935"/>
            <a:ext cx="3397250" cy="33021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/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𝑆𝑐𝑎𝑙𝑒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660CE49-5926-51B9-8A44-B8827C1B3F21}"/>
              </a:ext>
            </a:extLst>
          </p:cNvPr>
          <p:cNvSpPr txBox="1"/>
          <p:nvPr/>
        </p:nvSpPr>
        <p:spPr>
          <a:xfrm>
            <a:off x="8612697" y="1429406"/>
            <a:ext cx="3360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C=72.7mb/(4*pi*</a:t>
            </a:r>
            <a:r>
              <a:rPr lang="en-GB" dirty="0" err="1"/>
              <a:t>dW</a:t>
            </a:r>
            <a:r>
              <a:rPr lang="en-GB" dirty="0"/>
              <a:t>*</a:t>
            </a:r>
            <a:r>
              <a:rPr lang="en-GB" dirty="0" err="1"/>
              <a:t>RyTomEv</a:t>
            </a:r>
            <a:r>
              <a:rPr lang="en-GB" dirty="0"/>
              <a:t>),</a:t>
            </a:r>
          </a:p>
          <a:p>
            <a:r>
              <a:rPr lang="en-GB" dirty="0"/>
              <a:t>a = </a:t>
            </a:r>
            <a:r>
              <a:rPr lang="en-GB" sz="1800" b="0" i="0" dirty="0">
                <a:effectLst/>
                <a:latin typeface="Menlo"/>
              </a:rPr>
              <a:t>1.451meV</a:t>
            </a:r>
            <a:r>
              <a:rPr lang="en-GB" sz="1800" b="0" i="0" baseline="30000" dirty="0">
                <a:effectLst/>
                <a:latin typeface="Menlo"/>
              </a:rPr>
              <a:t>-</a:t>
            </a:r>
            <a:r>
              <a:rPr lang="en-GB" baseline="30000" dirty="0">
                <a:latin typeface="Menlo"/>
              </a:rPr>
              <a:t>1</a:t>
            </a:r>
            <a:endParaRPr lang="en-GB" sz="1800" b="0" i="0" baseline="30000" dirty="0">
              <a:effectLst/>
              <a:latin typeface="Menlo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FC1C49-5CDA-DC23-D236-D970D6F673CE}"/>
              </a:ext>
            </a:extLst>
          </p:cNvPr>
          <p:cNvSpPr txBox="1"/>
          <p:nvPr/>
        </p:nvSpPr>
        <p:spPr>
          <a:xfrm>
            <a:off x="9709392" y="2751693"/>
            <a:ext cx="672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meV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FCC9271-041E-4A9A-7CBF-142CDA0D51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158" y="609600"/>
            <a:ext cx="3511146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01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EBBAEB-E5E9-7D91-9BE4-6FE6ACB7E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0189" y="513031"/>
            <a:ext cx="6129821" cy="10837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743646-F1B2-501E-BA76-704367DB2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979" y="796661"/>
            <a:ext cx="3475541" cy="5164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381C46-B5B4-677A-E053-98158F72F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2783" y="1712894"/>
            <a:ext cx="3594073" cy="160865"/>
          </a:xfrm>
          <a:prstGeom prst="rect">
            <a:avLst/>
          </a:prstGeom>
        </p:spPr>
      </p:pic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E2751E87-45D9-AB2A-1E2D-9BC5F4F1DE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9176054"/>
              </p:ext>
            </p:extLst>
          </p:nvPr>
        </p:nvGraphicFramePr>
        <p:xfrm>
          <a:off x="8528050" y="48863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120" imgH="177480" progId="Equation.DSMT4">
                  <p:embed/>
                </p:oleObj>
              </mc:Choice>
              <mc:Fallback>
                <p:oleObj name="Equation" r:id="rId5" imgW="114120" imgH="177480" progId="Equation.DSMT4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E2751E87-45D9-AB2A-1E2D-9BC5F4F1DE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528050" y="48863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E7CF93D0-3EB1-D733-EE3D-79FD07E004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0506922"/>
              </p:ext>
            </p:extLst>
          </p:nvPr>
        </p:nvGraphicFramePr>
        <p:xfrm>
          <a:off x="6496050" y="32988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14120" imgH="177480" progId="Equation.DSMT4">
                  <p:embed/>
                </p:oleObj>
              </mc:Choice>
              <mc:Fallback>
                <p:oleObj name="Equation" r:id="rId7" imgW="114120" imgH="177480" progId="Equation.DSMT4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E7CF93D0-3EB1-D733-EE3D-79FD07E004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96050" y="32988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053646C-33FD-1ED3-3C66-D2EF0E2C61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8296" y="2171930"/>
            <a:ext cx="2730480" cy="20319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/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𝑑𝐸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]</m:t>
                                </m:r>
                              </m:num>
                              <m:den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𝜒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"</m:t>
                            </m:r>
                          </m:sup>
                        </m:sSup>
                      </m:num>
                      <m:den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𝑅𝑦</m:t>
                            </m:r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2.818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−30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𝑚𝐵𝑎𝑟𝑛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∗1.36057∗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d>
                          <m:dPr>
                            <m:begChr m:val="["/>
                            <m:endChr m:val="]"/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e>
                        </m:d>
                      </m:den>
                    </m:f>
                  </m:oMath>
                </a14:m>
                <a:r>
                  <a:rPr lang="en-GB" dirty="0"/>
                  <a:t>=1.6997*10</a:t>
                </a:r>
                <a:r>
                  <a:rPr lang="en-GB" baseline="30000" dirty="0"/>
                  <a:t>-3</a:t>
                </a:r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𝑚𝐵𝑎𝑟𝑛</m:t>
                            </m:r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den>
                        </m:f>
                      </m:e>
                    </m:d>
                  </m:oMath>
                </a14:m>
                <a:endParaRPr lang="en-GB" baseline="30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blipFill>
                <a:blip r:embed="rId9"/>
                <a:stretch>
                  <a:fillRect l="-54" b="-43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/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𝑅𝑦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/>
                      <m:t>13605.693</m:t>
                    </m:r>
                  </m:oMath>
                </a14:m>
                <a:r>
                  <a:rPr lang="en-GB" dirty="0"/>
                  <a:t>*meV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blipFill>
                <a:blip r:embed="rId10"/>
                <a:stretch>
                  <a:fillRect l="-3056" t="-26667" b="-5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811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75D8701-9A59-F66A-822E-B7928EA41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405" y="394973"/>
            <a:ext cx="3752610" cy="29850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4D5EB8-C6DF-E9B3-9A2E-DB776BCADABE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2FA8A-4A23-D441-7D31-5F7D03291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899" y="319366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C71321-BF98-2045-A96E-DD9712E32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B242D4-581A-7DEE-BE1E-A459DD3BCD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6F1E71-3306-3687-C556-1BF4C5818C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071" y="3637716"/>
            <a:ext cx="3847659" cy="306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62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961C8-FAC3-0A66-A455-4A34C61A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5D3E04-0B03-4F36-4692-AE76A6F51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91" y="446310"/>
            <a:ext cx="4011218" cy="31907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1FF745-91E8-67C9-7F91-0D6BC9086B0D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GSGW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71EA15-A5BA-EB24-EB20-CD74C1780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016" y="359879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D730BAD-7D58-F0BC-1681-4E2FB5999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269BFC-1CF2-D053-5351-D676324BC1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978444-03C3-A30C-ED76-DD9875895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92" y="3637051"/>
            <a:ext cx="4011217" cy="319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179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7EDD37E-9FB7-7BEE-1591-30058E38C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8" y="386514"/>
            <a:ext cx="4373599" cy="3181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0178D1-0597-34AF-BB7A-7BD643E73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176" y="327864"/>
            <a:ext cx="4375087" cy="324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8242E98-FAB2-F484-D992-7CFBE40FA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405" y="3902102"/>
            <a:ext cx="3363500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5354FE-F70F-ABB2-8E31-75DFD8BE1D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2289" y="3902102"/>
            <a:ext cx="3363500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73CE27-E135-AAB8-9147-C5A7411605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0173" y="3902102"/>
            <a:ext cx="3363500" cy="25200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BE6137-C0D3-BE11-40FD-CA26EC8C8B13}"/>
              </a:ext>
            </a:extLst>
          </p:cNvPr>
          <p:cNvCxnSpPr>
            <a:cxnSpLocks/>
          </p:cNvCxnSpPr>
          <p:nvPr/>
        </p:nvCxnSpPr>
        <p:spPr>
          <a:xfrm flipV="1">
            <a:off x="1749287" y="2636520"/>
            <a:ext cx="574813" cy="244436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1B9BFB-A8CF-6807-1BD2-008BE620E4A4}"/>
              </a:ext>
            </a:extLst>
          </p:cNvPr>
          <p:cNvCxnSpPr>
            <a:cxnSpLocks/>
          </p:cNvCxnSpPr>
          <p:nvPr/>
        </p:nvCxnSpPr>
        <p:spPr>
          <a:xfrm flipH="1" flipV="1">
            <a:off x="2440788" y="2377440"/>
            <a:ext cx="4258399" cy="185166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C054386-5A80-D094-32BE-093733F58190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012F25-708D-D22F-9D93-D97C03B174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89337" y="512530"/>
            <a:ext cx="3363500" cy="28148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F5EF315-B90C-B4A5-6F22-6F88913649D1}"/>
              </a:ext>
            </a:extLst>
          </p:cNvPr>
          <p:cNvSpPr txBox="1"/>
          <p:nvPr/>
        </p:nvSpPr>
        <p:spPr>
          <a:xfrm>
            <a:off x="9245600" y="3371850"/>
            <a:ext cx="25140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Linear spin wave theory</a:t>
            </a:r>
          </a:p>
          <a:p>
            <a:r>
              <a:rPr lang="en-GB" dirty="0"/>
              <a:t>fitting</a:t>
            </a:r>
          </a:p>
        </p:txBody>
      </p:sp>
    </p:spTree>
    <p:extLst>
      <p:ext uri="{BB962C8B-B14F-4D97-AF65-F5344CB8AC3E}">
        <p14:creationId xmlns:p14="http://schemas.microsoft.com/office/powerpoint/2010/main" val="15782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2A21B-052A-058B-EF35-0CD8AA9C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F7E3CA-16CD-59FE-3F33-4A7EAD0C7A05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GSGW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FE3F33-5EEB-3C03-7529-A4BF61E05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" y="674336"/>
            <a:ext cx="5334000" cy="4000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402F69-B364-94B0-D38C-2B671EF9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864" y="674336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474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C7AE46-76A4-79D1-2690-F811AD4D08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542344"/>
            <a:ext cx="6998606" cy="51061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B62A9-9274-495C-5BC6-200010A4D07F}"/>
              </a:ext>
            </a:extLst>
          </p:cNvPr>
          <p:cNvSpPr txBox="1"/>
          <p:nvPr/>
        </p:nvSpPr>
        <p:spPr>
          <a:xfrm>
            <a:off x="431800" y="444500"/>
            <a:ext cx="104901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Amplitude of symmetrised and non- symmetrised SW with and without Magnetic form-factor corrections</a:t>
            </a:r>
          </a:p>
          <a:p>
            <a:r>
              <a:rPr lang="en-GB" dirty="0"/>
              <a:t>Black line – symmetrised with correction</a:t>
            </a:r>
          </a:p>
          <a:p>
            <a:r>
              <a:rPr lang="en-GB" dirty="0"/>
              <a:t>Red line – non-symmetrised</a:t>
            </a:r>
          </a:p>
          <a:p>
            <a:r>
              <a:rPr lang="en-GB" dirty="0"/>
              <a:t>Blue line – symmetrised without correction.</a:t>
            </a:r>
          </a:p>
        </p:txBody>
      </p:sp>
    </p:spTree>
    <p:extLst>
      <p:ext uri="{BB962C8B-B14F-4D97-AF65-F5344CB8AC3E}">
        <p14:creationId xmlns:p14="http://schemas.microsoft.com/office/powerpoint/2010/main" val="950007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FC1B1D5-B951-F089-67A6-1F7B28AE2AEE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2(5) converges to different amplitude and J, which is not on smooth J 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CB36F6-0C43-D842-7329-9476F7A3B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953532"/>
            <a:ext cx="10213571" cy="457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92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0CA048B-0AB8-C9DA-29D3-0537C361C5FD}"/>
              </a:ext>
            </a:extLst>
          </p:cNvPr>
          <p:cNvSpPr txBox="1"/>
          <p:nvPr/>
        </p:nvSpPr>
        <p:spPr>
          <a:xfrm>
            <a:off x="807729" y="336759"/>
            <a:ext cx="98396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Peak height for green peaks at ~±1.5 is almost twice of ~±0.5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A8E1D7-18F1-923F-D95A-15A0C28CF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7532" y="1401287"/>
            <a:ext cx="6004024" cy="44728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AE488FF-2D83-0429-36CA-173C8DCBD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013" y="1641524"/>
            <a:ext cx="5494937" cy="410086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B3E1308-DC15-BB91-9B07-1D38E323937F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728B9A-E017-5984-2DC5-D2257D07FE1E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6DD1431-3B2D-0D28-889F-D97765E2994D}"/>
              </a:ext>
            </a:extLst>
          </p:cNvPr>
          <p:cNvSpPr/>
          <p:nvPr/>
        </p:nvSpPr>
        <p:spPr>
          <a:xfrm>
            <a:off x="2255921" y="2057624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C90C8C-4A18-A685-3FC9-D9088634E51E}"/>
              </a:ext>
            </a:extLst>
          </p:cNvPr>
          <p:cNvSpPr/>
          <p:nvPr/>
        </p:nvSpPr>
        <p:spPr>
          <a:xfrm rot="5400000">
            <a:off x="3178121" y="3028849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1D82D1-A7DA-3D62-BBF3-A7930961C604}"/>
              </a:ext>
            </a:extLst>
          </p:cNvPr>
          <p:cNvSpPr/>
          <p:nvPr/>
        </p:nvSpPr>
        <p:spPr>
          <a:xfrm>
            <a:off x="2986171" y="2093943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73FE00-26C0-9273-25AD-5A5A70E28784}"/>
              </a:ext>
            </a:extLst>
          </p:cNvPr>
          <p:cNvSpPr/>
          <p:nvPr/>
        </p:nvSpPr>
        <p:spPr>
          <a:xfrm rot="5400000">
            <a:off x="3178120" y="2308036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85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6147F-01B3-479D-C9CD-6E364780A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9F8B91-837C-D35D-3980-7A55BCA8D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226" y="1586155"/>
            <a:ext cx="5807074" cy="41796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C08B84-FDAD-8D48-0394-ACB143144429}"/>
              </a:ext>
            </a:extLst>
          </p:cNvPr>
          <p:cNvSpPr txBox="1"/>
          <p:nvPr/>
        </p:nvSpPr>
        <p:spPr>
          <a:xfrm>
            <a:off x="807729" y="336759"/>
            <a:ext cx="98396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Peak height for green peaks at ~±1.5 is almost twice of ~±0.5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FD27A0-FB93-8925-F366-819D0C7AA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7532" y="1401287"/>
            <a:ext cx="6004024" cy="447283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36D9A5E-727B-B754-0F30-D6E7E469E3C5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1768F-6683-BB34-E280-ACFA8BFB7EFA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F67783-2C53-FD74-D6A7-C1EF932BFF0C}"/>
              </a:ext>
            </a:extLst>
          </p:cNvPr>
          <p:cNvSpPr/>
          <p:nvPr/>
        </p:nvSpPr>
        <p:spPr>
          <a:xfrm>
            <a:off x="2313071" y="2057624"/>
            <a:ext cx="112629" cy="319060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C003580-713C-F8EA-7C09-6364232CA56C}"/>
              </a:ext>
            </a:extLst>
          </p:cNvPr>
          <p:cNvSpPr/>
          <p:nvPr/>
        </p:nvSpPr>
        <p:spPr>
          <a:xfrm>
            <a:off x="2973470" y="2093943"/>
            <a:ext cx="108000" cy="3190602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D46E2B-C261-7871-750E-C6F4483EE93A}"/>
              </a:ext>
            </a:extLst>
          </p:cNvPr>
          <p:cNvSpPr/>
          <p:nvPr/>
        </p:nvSpPr>
        <p:spPr>
          <a:xfrm rot="5400000">
            <a:off x="3182942" y="2332626"/>
            <a:ext cx="108000" cy="3190602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6BAE54-AC09-655B-C710-B3B359C7D20E}"/>
              </a:ext>
            </a:extLst>
          </p:cNvPr>
          <p:cNvSpPr/>
          <p:nvPr/>
        </p:nvSpPr>
        <p:spPr>
          <a:xfrm rot="5400000">
            <a:off x="3121808" y="2996827"/>
            <a:ext cx="112629" cy="319060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554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CFB3F-94A4-E275-199E-CFA1C0848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43290E-9F31-1949-38D4-DC609F291401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3(6) converges to different amplitude and J, which is not on smooth J line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0D1387-B25A-18E4-A8EC-3EA3F0423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733" y="1237607"/>
            <a:ext cx="10617746" cy="4781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102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9509CB99-12E2-E273-5286-1BBDA8A65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2" y="3494002"/>
            <a:ext cx="4228444" cy="31713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154EA4-0C83-E3FD-5027-16680B1B1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85" y="195542"/>
            <a:ext cx="4057225" cy="30477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E99142-8136-0859-F058-060B9AB7B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6722" y="68373"/>
            <a:ext cx="4057225" cy="30477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9EBF7E-12A4-0BDA-9378-5415F5B4A2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63" y="138707"/>
            <a:ext cx="4208542" cy="316141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6D1FA0-C8A1-911D-DB2D-5E77998256F5}"/>
              </a:ext>
            </a:extLst>
          </p:cNvPr>
          <p:cNvSpPr txBox="1"/>
          <p:nvPr/>
        </p:nvSpPr>
        <p:spPr>
          <a:xfrm>
            <a:off x="297800" y="3300124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1D cut: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C8E092-C62C-70AA-38DA-905E29ED7698}"/>
              </a:ext>
            </a:extLst>
          </p:cNvPr>
          <p:cNvSpPr txBox="1"/>
          <p:nvPr/>
        </p:nvSpPr>
        <p:spPr>
          <a:xfrm>
            <a:off x="135074" y="46923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2D cut: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1659FB-AE62-FF61-E2DC-BFD6D14E7F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6615" y="3618294"/>
            <a:ext cx="3897001" cy="29227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FF9651-7B2D-13D2-7DAB-771A87865D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6889" y="3457313"/>
            <a:ext cx="4165169" cy="3123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653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FC7E4-BB8F-A2C7-09EA-43932948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ACBC39-04AC-D321-7DB1-41E902984B95}"/>
              </a:ext>
            </a:extLst>
          </p:cNvPr>
          <p:cNvSpPr txBox="1"/>
          <p:nvPr/>
        </p:nvSpPr>
        <p:spPr>
          <a:xfrm>
            <a:off x="504497" y="129555"/>
            <a:ext cx="1571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Symmetrised: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AB94095-A6C6-9137-5CB1-7CC773E32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69" y="482951"/>
            <a:ext cx="3846261" cy="288469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A97DC90-3857-DD81-9D3E-8275E85D4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8472" y="300072"/>
            <a:ext cx="4191000" cy="314325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76060C3-4F78-D7D6-839A-B377C74588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0999" y="227131"/>
            <a:ext cx="4060887" cy="32161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3651339-0B18-B11E-7E38-9AA14D3FED90}"/>
              </a:ext>
            </a:extLst>
          </p:cNvPr>
          <p:cNvSpPr txBox="1"/>
          <p:nvPr/>
        </p:nvSpPr>
        <p:spPr>
          <a:xfrm>
            <a:off x="504497" y="3303838"/>
            <a:ext cx="107769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For 200meV dataset is possible to fit double-exponential background separately and then fit data using this </a:t>
            </a:r>
          </a:p>
          <a:p>
            <a:r>
              <a:rPr lang="en-GB" dirty="0"/>
              <a:t>background. The result is Ei200meV extern bg. </a:t>
            </a:r>
          </a:p>
          <a:p>
            <a:r>
              <a:rPr lang="en-GB" dirty="0"/>
              <a:t>For 400meV ds, background looks too high even if taken from central part of SW? Strange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5DCD0D-A0F9-A0C2-69AC-0C255EB9B6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269" y="4446839"/>
            <a:ext cx="3322511" cy="22126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312FD1-4351-53EB-3CAE-A70EAF312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70" y="4446839"/>
            <a:ext cx="3061525" cy="22126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1DC9F4-380F-F7CA-CD77-20627017C7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2778" y="4520748"/>
            <a:ext cx="4060887" cy="22126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9FA6761-A200-3DBE-FFE9-B9E28082B062}"/>
              </a:ext>
            </a:extLst>
          </p:cNvPr>
          <p:cNvSpPr txBox="1"/>
          <p:nvPr/>
        </p:nvSpPr>
        <p:spPr>
          <a:xfrm>
            <a:off x="599268" y="4336082"/>
            <a:ext cx="8431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Ei400 2D cuts with 2-exp fit background, 1 st amplitude fit vs 1D cut with fit base </a:t>
            </a:r>
            <a:r>
              <a:rPr lang="en-GB" dirty="0" err="1"/>
              <a:t>bg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17884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43CDCD-DFF5-D6D9-D349-7F8170F90538}"/>
              </a:ext>
            </a:extLst>
          </p:cNvPr>
          <p:cNvSpPr txBox="1"/>
          <p:nvPr/>
        </p:nvSpPr>
        <p:spPr>
          <a:xfrm>
            <a:off x="485578" y="422516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&lt;2,0,0&gt; for 3 Ei. DSHO. High Ei data – first fit, Ei200 and 400 subsequently refitted to peaks only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E407B6E-BEC6-7DC8-C626-3FA909C2B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4" y="1147384"/>
            <a:ext cx="4002318" cy="273655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57E0F55-27AE-C04F-EF92-419CA661D4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9946" y="1162374"/>
            <a:ext cx="4634391" cy="28897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ECA03DF-B30B-F8E9-A572-4383259C2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5186" y="1330610"/>
            <a:ext cx="4126077" cy="25302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A8F1ACD-3AFA-FF86-BA52-3D7194763E41}"/>
              </a:ext>
            </a:extLst>
          </p:cNvPr>
          <p:cNvSpPr txBox="1"/>
          <p:nvPr/>
        </p:nvSpPr>
        <p:spPr>
          <a:xfrm>
            <a:off x="290024" y="3851075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&lt;1,1,0&gt;, choosing minimal Q variation(~same magnetic FF); fit all (markers) and fit peak(connected)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358C3CC0-C03F-FBEC-A8B8-53787FE8F9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291884"/>
            <a:ext cx="4184551" cy="2448987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57BD666-C555-410D-359D-19680560DE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4740" y="4254461"/>
            <a:ext cx="4359734" cy="2551512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7C214B35-100E-5BD5-918D-4999E1FDBD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8745" y="4341817"/>
            <a:ext cx="4210469" cy="2464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924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781B78-0E76-3386-7AAE-E090150EEAA8}"/>
              </a:ext>
            </a:extLst>
          </p:cNvPr>
          <p:cNvSpPr txBox="1"/>
          <p:nvPr/>
        </p:nvSpPr>
        <p:spPr>
          <a:xfrm>
            <a:off x="339420" y="44742"/>
            <a:ext cx="11440776" cy="923330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Peak fitting. Comparison between fitting background with fixed slope (</a:t>
            </a:r>
            <a:r>
              <a:rPr lang="en-GB" dirty="0" err="1"/>
              <a:t>bg</a:t>
            </a:r>
            <a:r>
              <a:rPr lang="en-GB" dirty="0"/>
              <a:t> intensity changes –lower fig)</a:t>
            </a:r>
          </a:p>
          <a:p>
            <a:r>
              <a:rPr lang="en-GB" dirty="0"/>
              <a:t> and variable slope  (intensity and slope change – upper figs).</a:t>
            </a:r>
          </a:p>
          <a:p>
            <a:r>
              <a:rPr lang="en-GB" dirty="0"/>
              <a:t>3 incident energies. Dots – fitting whole 2D cut, lines – fitting peak cut up to 0.8 its intensity.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4448A2-9F87-1BD0-5882-A0C414A89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896" y="1063132"/>
            <a:ext cx="10939120" cy="540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932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B9A5C9-52D8-BA21-A56C-11587E7CE8E0}"/>
              </a:ext>
            </a:extLst>
          </p:cNvPr>
          <p:cNvSpPr txBox="1"/>
          <p:nvPr/>
        </p:nvSpPr>
        <p:spPr>
          <a:xfrm>
            <a:off x="315531" y="238259"/>
            <a:ext cx="5664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quality for the data above (Ei800, fitting to whole cut)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0D29AA-40DA-92AB-35BF-4AE7BB432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44" y="761529"/>
            <a:ext cx="4780156" cy="3327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6404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9C40E5E-1C61-60C6-068C-DEBF78591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363" y="3642356"/>
            <a:ext cx="4318907" cy="2880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3DB6D3-4766-ECFA-86AC-9211B803191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23363" y="549000"/>
            <a:ext cx="4320000" cy="288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AA43F3-B7EC-07DC-0A8B-49A60A26B307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158295" y="493821"/>
            <a:ext cx="4320000" cy="288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913272-B333-5FB2-9CD5-6DB5D43802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299" y="3268133"/>
            <a:ext cx="4257996" cy="341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4481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E34BEA-EFAE-DC9B-28DD-528593CA5641}"/>
              </a:ext>
            </a:extLst>
          </p:cNvPr>
          <p:cNvSpPr txBox="1"/>
          <p:nvPr/>
        </p:nvSpPr>
        <p:spPr>
          <a:xfrm>
            <a:off x="346129" y="211810"/>
            <a:ext cx="2816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background quality: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8D1D2B-F477-CD83-6176-FC776D25B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1024146"/>
            <a:ext cx="3344499" cy="24048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AE99ED-5542-9F87-EEA7-A35140ABF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693" y="892268"/>
            <a:ext cx="3508433" cy="26313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46C5FD-7358-025D-1A2A-5D1E1C22009F}"/>
              </a:ext>
            </a:extLst>
          </p:cNvPr>
          <p:cNvSpPr txBox="1"/>
          <p:nvPr/>
        </p:nvSpPr>
        <p:spPr>
          <a:xfrm>
            <a:off x="3782248" y="328340"/>
            <a:ext cx="3621889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1d cut from masked (blue line) and</a:t>
            </a:r>
          </a:p>
          <a:p>
            <a:r>
              <a:rPr lang="en-GB" dirty="0"/>
              <a:t> unmasked (red line) datasets from</a:t>
            </a:r>
          </a:p>
          <a:p>
            <a:r>
              <a:rPr lang="en-GB" dirty="0"/>
              <a:t> the left.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78611B-C34D-26E5-9976-CD505083C7D9}"/>
              </a:ext>
            </a:extLst>
          </p:cNvPr>
          <p:cNvSpPr txBox="1"/>
          <p:nvPr/>
        </p:nvSpPr>
        <p:spPr>
          <a:xfrm>
            <a:off x="7745150" y="581142"/>
            <a:ext cx="2359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Fitted </a:t>
            </a:r>
            <a:r>
              <a:rPr lang="en-GB" dirty="0" err="1"/>
              <a:t>bg</a:t>
            </a:r>
            <a:r>
              <a:rPr lang="en-GB" dirty="0"/>
              <a:t> (amplitude).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936E026-592B-2E05-5F6D-C7097A2732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5915" y="950474"/>
            <a:ext cx="3354382" cy="2404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0676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82A00E-0F6F-6ADA-1686-416CC14A8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539" y="2369489"/>
            <a:ext cx="4825201" cy="43930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1EC9B5-62CE-7895-CF35-C0BEE2F96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45" y="2369489"/>
            <a:ext cx="4908615" cy="44690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D71B7C-47E1-11E4-3255-A45FCE29B9BA}"/>
              </a:ext>
            </a:extLst>
          </p:cNvPr>
          <p:cNvSpPr txBox="1"/>
          <p:nvPr/>
        </p:nvSpPr>
        <p:spPr>
          <a:xfrm>
            <a:off x="1176793" y="1971923"/>
            <a:ext cx="1149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3E1C61-9967-6A8B-9F0D-D5E17C1A2128}"/>
              </a:ext>
            </a:extLst>
          </p:cNvPr>
          <p:cNvSpPr txBox="1"/>
          <p:nvPr/>
        </p:nvSpPr>
        <p:spPr>
          <a:xfrm>
            <a:off x="8451375" y="1898854"/>
            <a:ext cx="2548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J0+J2+J4 (J6==0)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EC98D9-FC16-C855-C756-6C66F71CC7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1138" y="501981"/>
            <a:ext cx="3677655" cy="23853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7BCF82-243A-6217-AB20-6A3B6CB22290}"/>
              </a:ext>
            </a:extLst>
          </p:cNvPr>
          <p:cNvSpPr txBox="1"/>
          <p:nvPr/>
        </p:nvSpPr>
        <p:spPr>
          <a:xfrm>
            <a:off x="513567" y="338203"/>
            <a:ext cx="2450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</a:t>
            </a:r>
            <a:r>
              <a:rPr lang="en-GB"/>
              <a:t>with form-factor</a:t>
            </a:r>
          </a:p>
        </p:txBody>
      </p:sp>
    </p:spTree>
    <p:extLst>
      <p:ext uri="{BB962C8B-B14F-4D97-AF65-F5344CB8AC3E}">
        <p14:creationId xmlns:p14="http://schemas.microsoft.com/office/powerpoint/2010/main" val="26281993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8FF2728-2CD0-D50F-CEFC-781FA94F9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" y="174625"/>
            <a:ext cx="4170517" cy="2962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91BA96-1C10-E3D9-7791-38EBE4AAC5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9417" y="127001"/>
            <a:ext cx="3764493" cy="32267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FC53DA-23CE-E3FF-0CD2-350E5B3DD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" y="3429000"/>
            <a:ext cx="4032250" cy="31034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D75EA3-1E28-48C5-288F-16BD240A9C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802" y="3841750"/>
            <a:ext cx="4355722" cy="241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8024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7EB341-FF08-3151-53E4-362A41B1426B}"/>
              </a:ext>
            </a:extLst>
          </p:cNvPr>
          <p:cNvSpPr txBox="1"/>
          <p:nvPr/>
        </p:nvSpPr>
        <p:spPr>
          <a:xfrm>
            <a:off x="645066" y="2031101"/>
            <a:ext cx="4282984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Comparison between form-factors used in 2017 and in 2026. The result is in 2017 we were using 1moment FF and 2026 – 3 moments.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1moment FF are identical, additional moments provide longer tail.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4A7CD4-5768-9F9F-9D5F-27294DD2E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7738" y="1649302"/>
            <a:ext cx="5628018" cy="3326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2878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149229</TotalTime>
  <Words>442</Words>
  <Application>Microsoft Office PowerPoint</Application>
  <PresentationFormat>Widescreen</PresentationFormat>
  <Paragraphs>44</Paragraphs>
  <Slides>21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Aptos Display</vt:lpstr>
      <vt:lpstr>Arial</vt:lpstr>
      <vt:lpstr>Cambria Math</vt:lpstr>
      <vt:lpstr>Menlo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58</cp:revision>
  <dcterms:created xsi:type="dcterms:W3CDTF">2025-07-08T11:01:33Z</dcterms:created>
  <dcterms:modified xsi:type="dcterms:W3CDTF">2026-08-14T16:28:05Z</dcterms:modified>
</cp:coreProperties>
</file>